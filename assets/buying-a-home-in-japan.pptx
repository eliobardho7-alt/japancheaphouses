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expectations: this deck is deliberately unromantic. Most people arrive excited about a cheap house and leave understanding that the land, the road and the paperwork decide everything. Tell them the two companion tools (buyer profile form and deal-breaker checklist) come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45 minutes if you present all of it. Sections 3 and 4 are the ones buyers remember; if time is short, cut section 6 and hand them the checklist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misunderstood point. Foreign buyers expect a permit process that does not exist, then are blindsided by the financing wall. Say it plainly and move on — the rest of the deck is about the two real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visa myth is the most common and the most expensive one. There is no investor-residency route attached to buying a home; a Business Manager visa is a separate application with its own capital and substance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step 2. Buyers who search before confirming funding waste months and lose credibility with agents, who will deprioritise a buyer whose money is unproven.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buyer to place themselves in one row before the next slide. Most people who say "akiya" actually want row one with a working kitchen, and a different budget follows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22-year figure is the legal depreciation period for wooden residential buildings used in tax accounting. Market behaviour mirrors it closely, which is the practical point for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Leasehold is not automatically bad — an old-style perpetual leasehold with cheap rent can work. A fixed-term leasehold with fifteen years left is a different object entirely, and should be priced as a depreciating lease, not a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client is looking at anything pre-1981, price the seismic retrofit into the offer from the outset. Costs vary widely with size and layout, so get a local quote rather than quoting a figure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residential land tax discount reduces the assessed value for property tax substantially; losing it on a designated poorly managed vacant property is the mechanism behind the "tax goes up six times" headlines.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requirement sits in Article 43 of the Building Standards Act. Non-rebuildable plots are sold at deep discounts and are the most common reason a listing looks too good. They are close to impossible to mortgage and hard to resell to anyone but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city planning counter at the local government office will answer all of these for free if you bring the parcel number. Encourage clients to make that visit part of the trip,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Earthquake cover in Japan is sold as a rider on fire insurance, is capped at a share of the fire sum insured, and is priced by structure type and prefecture. Old timber in a high-risk prefecture is the expensive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title extract and the cadastral map yourself early. They are cheap, publicly available for any parcel, and they answer half the questions on this slide before you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Psychologically stigmatised properties — where a death occurred — follow national disclosure guidelines. If a client is price-sensitive rather than superstitious, this category can be a genuine discount, but it must be disclosed to them and by them on any future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policy area, so re-check before each client engagement. Separately, land near designated sensitive facilities and border islands already carries a notification duty under existing law, regardless of the buyer's nationality.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delayed acquisition tax catches nearly every first-time buyer. It arrives months after they have spent their remaining cash on renovation. Tell clients to ring-fence it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commission cap for low-priced homes was widened in July 2024 to cover properties up to ¥8m, at up to ¥330,000 including tax, and it must be agreed in the brokerage contract in advance. Explain it to akiya buyers before they are surprised by it — it is why agents will now take on cheap rural listings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Non-resident owners must appoint a tax agent in Japan to receive and settle tax notices. Raise this early for overseas buyers; it is inexpensive and prevents missed bills becoming liens.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Lender policies change and vary by branch, so never quote a specific bank's criteria as settled. Renovation loans and unsecured home-improvement loans are a separate, easier product and are worth raising with buyers who are cash-buying the house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Routine work — kitchens, bathrooms, handrails, surface finishes — is unaffected. The change bites on full structural renovations of the kind akiya buyers plan. Confirm scope with the contractor and the local building authority before committing to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deposit-forfeit right ends once either party begins performance, so it is not an indefinite escape hatch. Keep the financing condition and its deadline realistic — an over-tight date is as dangerous as no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seller excludes liability for non-conformity, the buyer's only real protection is inspection before contract. That is the trade to explain: pay for a survey now, or accept the defects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rural houses, add water source and sewage to the brief: a well and a tank-based treatment system carry ongoing testing and maintenance duties that mains connections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Japanese bank account as a non-resident is difficult and should be solved weeks before settlement. Overseas buyers often route funds through a lawyer or their scrivener instead — agree the route with all parties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clients modelling nightly-let returns, the 180-night cap is usually the number that breaks the model. Make them build the forecast on permitted nights, not calendar nights, and confirm the local ordinance before they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 rates and thresholds change; state the principle and refer clients to a licensed tax accountant for figures. The demolition floor is the most useful single number to give an akiya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 dated kitchens, tired interiors, an awkward layout, even a stigmatised history — is negotiable and priceable. These six are structural to the deal, and walking away costs nothing compared with owning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handing over the two companion tools rather than asking for a decision. The profile form and the checklist are the natural next contact point, and both produce a summary the client can send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2565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2906B"/>
                </a:solidFill>
                <a:latin typeface="Inter" pitchFamily="34" charset="0"/>
                <a:ea typeface="Inter" pitchFamily="34" charset="-122"/>
                <a:cs typeface="Inter" pitchFamily="34" charset="-120"/>
              </a:rPr>
              <a:t>YAMA-VISTA  ·  japancheaphouses.com</a:t>
            </a:r>
            <a:endParaRPr lang="en-US" sz="1300" dirty="0"/>
          </a:p>
        </p:txBody>
      </p:sp>
      <p:sp>
        <p:nvSpPr>
          <p:cNvPr id="3" name="Text 1"/>
          <p:cNvSpPr/>
          <p:nvPr/>
        </p:nvSpPr>
        <p:spPr>
          <a:xfrm>
            <a:off x="812800" y="2153352"/>
            <a:ext cx="10883393" cy="1412203"/>
          </a:xfrm>
          <a:prstGeom prst="rect">
            <a:avLst/>
          </a:prstGeom>
          <a:noFill/>
          <a:ln/>
        </p:spPr>
        <p:txBody>
          <a:bodyPr wrap="square" lIns="0" tIns="0" rIns="0" bIns="0" rtlCol="0" anchor="t">
            <a:normAutofit/>
          </a:bodyPr>
          <a:lstStyle/>
          <a:p>
            <a:pPr algn="l" indent="0" marL="0">
              <a:lnSpc>
                <a:spcPts val="5460"/>
              </a:lnSpc>
              <a:buNone/>
            </a:pPr>
            <a:r>
              <a:rPr lang="en-US" sz="5200" dirty="0">
                <a:solidFill>
                  <a:srgbClr val="F6F2E9"/>
                </a:solidFill>
                <a:latin typeface="Source Serif 4" pitchFamily="34" charset="0"/>
                <a:ea typeface="Source Serif 4" pitchFamily="34" charset="-122"/>
                <a:cs typeface="Source Serif 4" pitchFamily="34" charset="-120"/>
              </a:rPr>
              <a:t>Buying a Home</a:t>
            </a:r>
            <a:endParaRPr lang="en-US" sz="5200" dirty="0"/>
          </a:p>
          <a:p>
            <a:pPr algn="l" indent="0" marL="0">
              <a:lnSpc>
                <a:spcPts val="5460"/>
              </a:lnSpc>
              <a:buNone/>
            </a:pPr>
            <a:r>
              <a:rPr lang="en-US" sz="5200" dirty="0">
                <a:solidFill>
                  <a:srgbClr val="F6F2E9"/>
                </a:solidFill>
                <a:latin typeface="Source Serif 4" pitchFamily="34" charset="0"/>
                <a:ea typeface="Source Serif 4" pitchFamily="34" charset="-122"/>
                <a:cs typeface="Source Serif 4" pitchFamily="34" charset="-120"/>
              </a:rPr>
              <a:t>in Japan</a:t>
            </a:r>
            <a:endParaRPr lang="en-US" sz="5200" dirty="0"/>
          </a:p>
        </p:txBody>
      </p:sp>
      <p:sp>
        <p:nvSpPr>
          <p:cNvPr id="4" name="Shape 2"/>
          <p:cNvSpPr/>
          <p:nvPr/>
        </p:nvSpPr>
        <p:spPr>
          <a:xfrm>
            <a:off x="812800" y="3768756"/>
            <a:ext cx="1143000" cy="25400"/>
          </a:xfrm>
          <a:prstGeom prst="rect">
            <a:avLst/>
          </a:prstGeom>
          <a:solidFill>
            <a:srgbClr val="E2906B"/>
          </a:solidFill>
          <a:ln/>
        </p:spPr>
      </p:sp>
      <p:sp>
        <p:nvSpPr>
          <p:cNvPr id="5" name="Text 3"/>
          <p:cNvSpPr/>
          <p:nvPr/>
        </p:nvSpPr>
        <p:spPr>
          <a:xfrm>
            <a:off x="812800" y="4022756"/>
            <a:ext cx="7717790" cy="725121"/>
          </a:xfrm>
          <a:prstGeom prst="rect">
            <a:avLst/>
          </a:prstGeom>
          <a:noFill/>
          <a:ln/>
        </p:spPr>
        <p:txBody>
          <a:bodyPr wrap="square" lIns="0" tIns="0" rIns="0" bIns="0" rtlCol="0" anchor="t">
            <a:normAutofit/>
          </a:bodyPr>
          <a:lstStyle/>
          <a:p>
            <a:pPr algn="l" indent="0" marL="0">
              <a:lnSpc>
                <a:spcPts val="2755"/>
              </a:lnSpc>
              <a:buNone/>
            </a:pPr>
            <a:r>
              <a:rPr lang="en-US" sz="1900" dirty="0">
                <a:solidFill>
                  <a:srgbClr val="A9B7C0"/>
                </a:solidFill>
                <a:latin typeface="Inter" pitchFamily="34" charset="0"/>
                <a:ea typeface="Inter" pitchFamily="34" charset="-122"/>
                <a:cs typeface="Inter" pitchFamily="34" charset="-120"/>
              </a:rPr>
              <a:t>What you can legally own, what it really costs, and the six findings that should end a deal on the spot.</a:t>
            </a:r>
            <a:endParaRPr lang="en-US" sz="1900" dirty="0"/>
          </a:p>
        </p:txBody>
      </p:sp>
      <p:sp>
        <p:nvSpPr>
          <p:cNvPr id="6" name="Text 4"/>
          <p:cNvSpPr/>
          <p:nvPr/>
        </p:nvSpPr>
        <p:spPr>
          <a:xfrm>
            <a:off x="812800" y="5831865"/>
            <a:ext cx="2179465"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0"/>
                </a:solidFill>
                <a:latin typeface="Inter" pitchFamily="34" charset="0"/>
                <a:ea typeface="Inter" pitchFamily="34" charset="-122"/>
                <a:cs typeface="Inter" pitchFamily="34" charset="-120"/>
              </a:rPr>
              <a:t>A guide for international buyers</a:t>
            </a:r>
            <a:endParaRPr lang="en-US" sz="1200" dirty="0"/>
          </a:p>
        </p:txBody>
      </p:sp>
      <p:sp>
        <p:nvSpPr>
          <p:cNvPr id="7" name="Text 5"/>
          <p:cNvSpPr/>
          <p:nvPr/>
        </p:nvSpPr>
        <p:spPr>
          <a:xfrm>
            <a:off x="3385985" y="5831865"/>
            <a:ext cx="1779142"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0"/>
                </a:solidFill>
                <a:latin typeface="Inter" pitchFamily="34" charset="0"/>
                <a:ea typeface="Inter" pitchFamily="34" charset="-122"/>
                <a:cs typeface="Inter" pitchFamily="34" charset="-120"/>
              </a:rPr>
              <a:t>Updated September 2026</a:t>
            </a:r>
            <a:endParaRPr lang="en-US" sz="1200" dirty="0"/>
          </a:p>
        </p:txBody>
      </p:sp>
      <p:sp>
        <p:nvSpPr>
          <p:cNvPr id="8" name="Text 6"/>
          <p:cNvSpPr/>
          <p:nvPr/>
        </p:nvSpPr>
        <p:spPr>
          <a:xfrm>
            <a:off x="5570507" y="5831865"/>
            <a:ext cx="65811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0"/>
                </a:solidFill>
                <a:latin typeface="Inter" pitchFamily="34" charset="0"/>
                <a:ea typeface="Inter" pitchFamily="34" charset="-122"/>
                <a:cs typeface="Inter" pitchFamily="34" charset="-120"/>
              </a:rPr>
              <a:t>29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What this guide covers</a:t>
            </a:r>
            <a:endParaRPr lang="en-US" sz="3300" dirty="0"/>
          </a:p>
        </p:txBody>
      </p:sp>
      <p:sp>
        <p:nvSpPr>
          <p:cNvPr id="3" name="Shape 1"/>
          <p:cNvSpPr/>
          <p:nvPr/>
        </p:nvSpPr>
        <p:spPr>
          <a:xfrm>
            <a:off x="812800" y="1629386"/>
            <a:ext cx="5283200" cy="1196303"/>
          </a:xfrm>
          <a:prstGeom prst="roundRect">
            <a:avLst>
              <a:gd name="adj" fmla="val 6370"/>
            </a:avLst>
          </a:prstGeom>
          <a:solidFill>
            <a:srgbClr val="EBE5D8"/>
          </a:solidFill>
          <a:ln/>
        </p:spPr>
      </p:sp>
      <p:sp>
        <p:nvSpPr>
          <p:cNvPr id="4" name="Text 2"/>
          <p:cNvSpPr/>
          <p:nvPr/>
        </p:nvSpPr>
        <p:spPr>
          <a:xfrm>
            <a:off x="1041400" y="1857986"/>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01   Orientation</a:t>
            </a:r>
            <a:endParaRPr lang="en-US" sz="1400" dirty="0"/>
          </a:p>
        </p:txBody>
      </p:sp>
      <p:sp>
        <p:nvSpPr>
          <p:cNvPr id="5" name="Text 3"/>
          <p:cNvSpPr/>
          <p:nvPr/>
        </p:nvSpPr>
        <p:spPr>
          <a:xfrm>
            <a:off x="1041400" y="2134822"/>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Who may buy, what ownership does and does not give you, and the shape of the whole process.</a:t>
            </a:r>
            <a:endParaRPr lang="en-US" sz="1300" dirty="0"/>
          </a:p>
        </p:txBody>
      </p:sp>
      <p:sp>
        <p:nvSpPr>
          <p:cNvPr id="6" name="Shape 4"/>
          <p:cNvSpPr/>
          <p:nvPr/>
        </p:nvSpPr>
        <p:spPr>
          <a:xfrm>
            <a:off x="6096000" y="1629386"/>
            <a:ext cx="5283200" cy="1196303"/>
          </a:xfrm>
          <a:prstGeom prst="roundRect">
            <a:avLst>
              <a:gd name="adj" fmla="val 6370"/>
            </a:avLst>
          </a:prstGeom>
          <a:solidFill>
            <a:srgbClr val="EBE5D8"/>
          </a:solidFill>
          <a:ln/>
        </p:spPr>
      </p:sp>
      <p:sp>
        <p:nvSpPr>
          <p:cNvPr id="7" name="Text 5"/>
          <p:cNvSpPr/>
          <p:nvPr/>
        </p:nvSpPr>
        <p:spPr>
          <a:xfrm>
            <a:off x="6324600" y="1857986"/>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02   What you are buying</a:t>
            </a:r>
            <a:endParaRPr lang="en-US" sz="1400" dirty="0"/>
          </a:p>
        </p:txBody>
      </p:sp>
      <p:sp>
        <p:nvSpPr>
          <p:cNvPr id="8" name="Text 6"/>
          <p:cNvSpPr/>
          <p:nvPr/>
        </p:nvSpPr>
        <p:spPr>
          <a:xfrm>
            <a:off x="6324600" y="2134822"/>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Property types, the depreciation curve, land rights and the two seismic-code dates.</a:t>
            </a:r>
            <a:endParaRPr lang="en-US" sz="1300" dirty="0"/>
          </a:p>
        </p:txBody>
      </p:sp>
      <p:sp>
        <p:nvSpPr>
          <p:cNvPr id="9" name="Shape 7"/>
          <p:cNvSpPr/>
          <p:nvPr/>
        </p:nvSpPr>
        <p:spPr>
          <a:xfrm>
            <a:off x="812800" y="2825690"/>
            <a:ext cx="5283200" cy="1196303"/>
          </a:xfrm>
          <a:prstGeom prst="roundRect">
            <a:avLst>
              <a:gd name="adj" fmla="val 6370"/>
            </a:avLst>
          </a:prstGeom>
          <a:solidFill>
            <a:srgbClr val="EBE5D8"/>
          </a:solidFill>
          <a:ln/>
        </p:spPr>
      </p:sp>
      <p:sp>
        <p:nvSpPr>
          <p:cNvPr id="10" name="Text 8"/>
          <p:cNvSpPr/>
          <p:nvPr/>
        </p:nvSpPr>
        <p:spPr>
          <a:xfrm>
            <a:off x="1041400" y="3054290"/>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03   Land and law</a:t>
            </a:r>
            <a:endParaRPr lang="en-US" sz="1400" dirty="0"/>
          </a:p>
        </p:txBody>
      </p:sp>
      <p:sp>
        <p:nvSpPr>
          <p:cNvPr id="11" name="Text 9"/>
          <p:cNvSpPr/>
          <p:nvPr/>
        </p:nvSpPr>
        <p:spPr>
          <a:xfrm>
            <a:off x="1041400" y="3331125"/>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Road frontage, zoning, hazard maps, title and the disclosure document that carries the truth.</a:t>
            </a:r>
            <a:endParaRPr lang="en-US" sz="1300" dirty="0"/>
          </a:p>
        </p:txBody>
      </p:sp>
      <p:sp>
        <p:nvSpPr>
          <p:cNvPr id="12" name="Shape 10"/>
          <p:cNvSpPr/>
          <p:nvPr/>
        </p:nvSpPr>
        <p:spPr>
          <a:xfrm>
            <a:off x="6096000" y="2825690"/>
            <a:ext cx="5283200" cy="1196303"/>
          </a:xfrm>
          <a:prstGeom prst="roundRect">
            <a:avLst>
              <a:gd name="adj" fmla="val 6370"/>
            </a:avLst>
          </a:prstGeom>
          <a:solidFill>
            <a:srgbClr val="EBE5D8"/>
          </a:solidFill>
          <a:ln/>
        </p:spPr>
      </p:sp>
      <p:sp>
        <p:nvSpPr>
          <p:cNvPr id="13" name="Text 11"/>
          <p:cNvSpPr/>
          <p:nvPr/>
        </p:nvSpPr>
        <p:spPr>
          <a:xfrm>
            <a:off x="6324600" y="3054290"/>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04   The money</a:t>
            </a:r>
            <a:endParaRPr lang="en-US" sz="1400" dirty="0"/>
          </a:p>
        </p:txBody>
      </p:sp>
      <p:sp>
        <p:nvSpPr>
          <p:cNvPr id="14" name="Text 12"/>
          <p:cNvSpPr/>
          <p:nvPr/>
        </p:nvSpPr>
        <p:spPr>
          <a:xfrm>
            <a:off x="6324600" y="3331125"/>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Closing costs, annual taxes, who can actually borrow, and renovation budgeting.</a:t>
            </a:r>
            <a:endParaRPr lang="en-US" sz="1300" dirty="0"/>
          </a:p>
        </p:txBody>
      </p:sp>
      <p:sp>
        <p:nvSpPr>
          <p:cNvPr id="15" name="Shape 13"/>
          <p:cNvSpPr/>
          <p:nvPr/>
        </p:nvSpPr>
        <p:spPr>
          <a:xfrm>
            <a:off x="812800" y="4021992"/>
            <a:ext cx="5283200" cy="1196303"/>
          </a:xfrm>
          <a:prstGeom prst="roundRect">
            <a:avLst>
              <a:gd name="adj" fmla="val 6370"/>
            </a:avLst>
          </a:prstGeom>
          <a:solidFill>
            <a:srgbClr val="EBE5D8"/>
          </a:solidFill>
          <a:ln/>
        </p:spPr>
      </p:sp>
      <p:sp>
        <p:nvSpPr>
          <p:cNvPr id="16" name="Text 14"/>
          <p:cNvSpPr/>
          <p:nvPr/>
        </p:nvSpPr>
        <p:spPr>
          <a:xfrm>
            <a:off x="1041400" y="4250592"/>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05   The transaction</a:t>
            </a:r>
            <a:endParaRPr lang="en-US" sz="1400" dirty="0"/>
          </a:p>
        </p:txBody>
      </p:sp>
      <p:sp>
        <p:nvSpPr>
          <p:cNvPr id="17" name="Text 15"/>
          <p:cNvSpPr/>
          <p:nvPr/>
        </p:nvSpPr>
        <p:spPr>
          <a:xfrm>
            <a:off x="1041400" y="4527428"/>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Offer to handover, the clauses that protect you, inspection and settlement day.</a:t>
            </a:r>
            <a:endParaRPr lang="en-US" sz="1300" dirty="0"/>
          </a:p>
        </p:txBody>
      </p:sp>
      <p:sp>
        <p:nvSpPr>
          <p:cNvPr id="18" name="Shape 16"/>
          <p:cNvSpPr/>
          <p:nvPr/>
        </p:nvSpPr>
        <p:spPr>
          <a:xfrm>
            <a:off x="6096000" y="4021992"/>
            <a:ext cx="5283200" cy="1196303"/>
          </a:xfrm>
          <a:prstGeom prst="roundRect">
            <a:avLst>
              <a:gd name="adj" fmla="val 6370"/>
            </a:avLst>
          </a:prstGeom>
          <a:solidFill>
            <a:srgbClr val="EBE5D8"/>
          </a:solidFill>
          <a:ln/>
        </p:spPr>
      </p:sp>
      <p:sp>
        <p:nvSpPr>
          <p:cNvPr id="19" name="Text 17"/>
          <p:cNvSpPr/>
          <p:nvPr/>
        </p:nvSpPr>
        <p:spPr>
          <a:xfrm>
            <a:off x="6324600" y="4250592"/>
            <a:ext cx="4970780"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06   After you own it</a:t>
            </a:r>
            <a:endParaRPr lang="en-US" sz="1400" dirty="0"/>
          </a:p>
        </p:txBody>
      </p:sp>
      <p:sp>
        <p:nvSpPr>
          <p:cNvPr id="20" name="Text 18"/>
          <p:cNvSpPr/>
          <p:nvPr/>
        </p:nvSpPr>
        <p:spPr>
          <a:xfrm>
            <a:off x="6324600" y="4527428"/>
            <a:ext cx="4970780" cy="4876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0"/>
                </a:solidFill>
                <a:latin typeface="Inter" pitchFamily="34" charset="0"/>
                <a:ea typeface="Inter" pitchFamily="34" charset="-122"/>
                <a:cs typeface="Inter" pitchFamily="34" charset="-120"/>
              </a:rPr>
              <a:t>Living, renting, short-term letting limits, exit strategy and the deal-breaker summary.</a:t>
            </a:r>
            <a:endParaRPr lang="en-US" sz="1300" dirty="0"/>
          </a:p>
        </p:txBody>
      </p:sp>
      <p:sp>
        <p:nvSpPr>
          <p:cNvPr id="21" name="Text 19"/>
          <p:cNvSpPr/>
          <p:nvPr/>
        </p:nvSpPr>
        <p:spPr>
          <a:xfrm>
            <a:off x="812800" y="6238264"/>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4462C"/>
        </a:solidFill>
      </p:bgPr>
    </p:bg>
    <p:spTree>
      <p:nvGrpSpPr>
        <p:cNvPr id="1" name=""/>
        <p:cNvGrpSpPr/>
        <p:nvPr/>
      </p:nvGrpSpPr>
      <p:grpSpPr>
        <a:xfrm>
          <a:off x="0" y="0"/>
          <a:ext cx="0" cy="0"/>
          <a:chOff x="0" y="0"/>
          <a:chExt cx="0" cy="0"/>
        </a:xfrm>
      </p:grpSpPr>
      <p:sp>
        <p:nvSpPr>
          <p:cNvPr id="2" name="Text 0"/>
          <p:cNvSpPr/>
          <p:nvPr/>
        </p:nvSpPr>
        <p:spPr>
          <a:xfrm>
            <a:off x="812800" y="1876487"/>
            <a:ext cx="9810750" cy="1222986"/>
          </a:xfrm>
          <a:prstGeom prst="rect">
            <a:avLst/>
          </a:prstGeom>
          <a:noFill/>
          <a:ln/>
        </p:spPr>
        <p:txBody>
          <a:bodyPr wrap="square" lIns="0" tIns="0" rIns="0" bIns="0" rtlCol="0" anchor="t">
            <a:normAutofit/>
          </a:bodyPr>
          <a:lstStyle/>
          <a:p>
            <a:pPr algn="l" indent="0" marL="0">
              <a:lnSpc>
                <a:spcPts val="4715"/>
              </a:lnSpc>
              <a:buNone/>
            </a:pPr>
            <a:r>
              <a:rPr lang="en-US" sz="4100" dirty="0">
                <a:solidFill>
                  <a:srgbClr val="F6F2E9"/>
                </a:solidFill>
                <a:latin typeface="Source Serif 4" pitchFamily="34" charset="0"/>
                <a:ea typeface="Source Serif 4" pitchFamily="34" charset="-122"/>
                <a:cs typeface="Source Serif 4" pitchFamily="34" charset="-120"/>
              </a:rPr>
              <a:t>Japan lets almost anyone buy. It does not let almost anyone borrow.</a:t>
            </a:r>
            <a:endParaRPr lang="en-US" sz="4100" dirty="0"/>
          </a:p>
        </p:txBody>
      </p:sp>
      <p:sp>
        <p:nvSpPr>
          <p:cNvPr id="3" name="Text 1"/>
          <p:cNvSpPr/>
          <p:nvPr/>
        </p:nvSpPr>
        <p:spPr>
          <a:xfrm>
            <a:off x="812800" y="3378873"/>
            <a:ext cx="9156700" cy="1424842"/>
          </a:xfrm>
          <a:prstGeom prst="rect">
            <a:avLst/>
          </a:prstGeom>
          <a:noFill/>
          <a:ln/>
        </p:spPr>
        <p:txBody>
          <a:bodyPr wrap="square" lIns="0" tIns="0" rIns="0" bIns="0" rtlCol="0" anchor="t">
            <a:normAutofit/>
          </a:bodyPr>
          <a:lstStyle/>
          <a:p>
            <a:pPr algn="l" indent="0" marL="0">
              <a:lnSpc>
                <a:spcPts val="2755"/>
              </a:lnSpc>
              <a:buNone/>
            </a:pPr>
            <a:r>
              <a:rPr lang="en-US" sz="1900" dirty="0">
                <a:solidFill>
                  <a:srgbClr val="F6F2E9"/>
                </a:solidFill>
                <a:latin typeface="Inter" pitchFamily="34" charset="0"/>
                <a:ea typeface="Inter" pitchFamily="34" charset="-122"/>
                <a:cs typeface="Inter" pitchFamily="34" charset="-120"/>
              </a:rPr>
              <a:t>There is no nationality requirement, no residency requirement and no permit needed to own land or a building outright. Freehold title is the same title a Japanese national receives. The constraint is not the right to buy — it is the mortgage, and after that, the condition of what you bought.</a:t>
            </a:r>
            <a:endParaRPr lang="en-US" sz="1900" dirty="0"/>
          </a:p>
        </p:txBody>
      </p:sp>
      <p:sp>
        <p:nvSpPr>
          <p:cNvPr id="4" name="Text 2"/>
          <p:cNvSpPr/>
          <p:nvPr/>
        </p:nvSpPr>
        <p:spPr>
          <a:xfrm>
            <a:off x="812800" y="6238266"/>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D8CE"/>
                </a:solidFill>
                <a:latin typeface="Inter" pitchFamily="34" charset="0"/>
                <a:ea typeface="Inter" pitchFamily="34" charset="-122"/>
                <a:cs typeface="Inter" pitchFamily="34" charset="-120"/>
              </a:rPr>
              <a:t>YAMA-VISTA  ·  japancheaphouses.com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2"/>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Four beliefs to drop before you start</a:t>
            </a:r>
            <a:endParaRPr lang="en-US" sz="3300" dirty="0"/>
          </a:p>
        </p:txBody>
      </p:sp>
      <p:sp>
        <p:nvSpPr>
          <p:cNvPr id="3" name="Shape 1"/>
          <p:cNvSpPr/>
          <p:nvPr/>
        </p:nvSpPr>
        <p:spPr>
          <a:xfrm>
            <a:off x="815975" y="1581761"/>
            <a:ext cx="5175250" cy="1521039"/>
          </a:xfrm>
          <a:prstGeom prst="roundRect">
            <a:avLst>
              <a:gd name="adj" fmla="val 4801"/>
            </a:avLst>
          </a:prstGeom>
          <a:solidFill>
            <a:srgbClr val="FFFFFF"/>
          </a:solidFill>
          <a:ln w="6350">
            <a:solidFill>
              <a:srgbClr val="DDD6C6"/>
            </a:solidFill>
            <a:prstDash val="solid"/>
          </a:ln>
        </p:spPr>
      </p:sp>
      <p:sp>
        <p:nvSpPr>
          <p:cNvPr id="4" name="Text 2"/>
          <p:cNvSpPr/>
          <p:nvPr/>
        </p:nvSpPr>
        <p:spPr>
          <a:xfrm>
            <a:off x="1072662" y="1838447"/>
            <a:ext cx="4801733"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"Buying property gets me a visa."</a:t>
            </a:r>
            <a:endParaRPr lang="en-US" sz="1400" dirty="0"/>
          </a:p>
        </p:txBody>
      </p:sp>
      <p:sp>
        <p:nvSpPr>
          <p:cNvPr id="5" name="Text 3"/>
          <p:cNvSpPr/>
          <p:nvPr/>
        </p:nvSpPr>
        <p:spPr>
          <a:xfrm>
            <a:off x="1072662" y="2127983"/>
            <a:ext cx="4801733"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It does not. Ownership and immigration status are entirely separate systems in Japan. Owning a house gives you no right to stay a single extra day.</a:t>
            </a:r>
            <a:endParaRPr lang="en-US" sz="1300" dirty="0"/>
          </a:p>
        </p:txBody>
      </p:sp>
      <p:sp>
        <p:nvSpPr>
          <p:cNvPr id="6" name="Shape 4"/>
          <p:cNvSpPr/>
          <p:nvPr/>
        </p:nvSpPr>
        <p:spPr>
          <a:xfrm>
            <a:off x="6200775" y="1581761"/>
            <a:ext cx="5175250" cy="1521039"/>
          </a:xfrm>
          <a:prstGeom prst="roundRect">
            <a:avLst>
              <a:gd name="adj" fmla="val 4801"/>
            </a:avLst>
          </a:prstGeom>
          <a:solidFill>
            <a:srgbClr val="FFFFFF"/>
          </a:solidFill>
          <a:ln w="6350">
            <a:solidFill>
              <a:srgbClr val="DDD6C6"/>
            </a:solidFill>
            <a:prstDash val="solid"/>
          </a:ln>
        </p:spPr>
      </p:sp>
      <p:sp>
        <p:nvSpPr>
          <p:cNvPr id="7" name="Text 5"/>
          <p:cNvSpPr/>
          <p:nvPr/>
        </p:nvSpPr>
        <p:spPr>
          <a:xfrm>
            <a:off x="6457462" y="1838447"/>
            <a:ext cx="4801733"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"A ¥3 million house costs ¥3 million."</a:t>
            </a:r>
            <a:endParaRPr lang="en-US" sz="1400" dirty="0"/>
          </a:p>
        </p:txBody>
      </p:sp>
      <p:sp>
        <p:nvSpPr>
          <p:cNvPr id="8" name="Text 6"/>
          <p:cNvSpPr/>
          <p:nvPr/>
        </p:nvSpPr>
        <p:spPr>
          <a:xfrm>
            <a:off x="6457462" y="2127983"/>
            <a:ext cx="4801733"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Budget the purchase price plus 6–10% in acquisition costs, plus renovation that routinely exceeds the price of the house itself.</a:t>
            </a:r>
            <a:endParaRPr lang="en-US" sz="1300" dirty="0"/>
          </a:p>
        </p:txBody>
      </p:sp>
      <p:sp>
        <p:nvSpPr>
          <p:cNvPr id="9" name="Shape 7"/>
          <p:cNvSpPr/>
          <p:nvPr/>
        </p:nvSpPr>
        <p:spPr>
          <a:xfrm>
            <a:off x="815975" y="3312350"/>
            <a:ext cx="5175250" cy="1521039"/>
          </a:xfrm>
          <a:prstGeom prst="roundRect">
            <a:avLst>
              <a:gd name="adj" fmla="val 4801"/>
            </a:avLst>
          </a:prstGeom>
          <a:solidFill>
            <a:srgbClr val="FFFFFF"/>
          </a:solidFill>
          <a:ln w="6350">
            <a:solidFill>
              <a:srgbClr val="DDD6C6"/>
            </a:solidFill>
            <a:prstDash val="solid"/>
          </a:ln>
        </p:spPr>
      </p:sp>
      <p:sp>
        <p:nvSpPr>
          <p:cNvPr id="10" name="Text 8"/>
          <p:cNvSpPr/>
          <p:nvPr/>
        </p:nvSpPr>
        <p:spPr>
          <a:xfrm>
            <a:off x="1072662" y="3569036"/>
            <a:ext cx="4801733"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"It's cheap because Japan is cheap."</a:t>
            </a:r>
            <a:endParaRPr lang="en-US" sz="1400" dirty="0"/>
          </a:p>
        </p:txBody>
      </p:sp>
      <p:sp>
        <p:nvSpPr>
          <p:cNvPr id="11" name="Text 9"/>
          <p:cNvSpPr/>
          <p:nvPr/>
        </p:nvSpPr>
        <p:spPr>
          <a:xfrm>
            <a:off x="1072662" y="3858572"/>
            <a:ext cx="4801733"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It is usually cheap because of a specific, findable defect: no legal road access, a hazard zone, a leasehold, or a building nobody can insure or finance.</a:t>
            </a:r>
            <a:endParaRPr lang="en-US" sz="1300" dirty="0"/>
          </a:p>
        </p:txBody>
      </p:sp>
      <p:sp>
        <p:nvSpPr>
          <p:cNvPr id="12" name="Shape 10"/>
          <p:cNvSpPr/>
          <p:nvPr/>
        </p:nvSpPr>
        <p:spPr>
          <a:xfrm>
            <a:off x="6200775" y="3312350"/>
            <a:ext cx="5175250" cy="1521039"/>
          </a:xfrm>
          <a:prstGeom prst="roundRect">
            <a:avLst>
              <a:gd name="adj" fmla="val 4801"/>
            </a:avLst>
          </a:prstGeom>
          <a:solidFill>
            <a:srgbClr val="FFFFFF"/>
          </a:solidFill>
          <a:ln w="6350">
            <a:solidFill>
              <a:srgbClr val="DDD6C6"/>
            </a:solidFill>
            <a:prstDash val="solid"/>
          </a:ln>
        </p:spPr>
      </p:sp>
      <p:sp>
        <p:nvSpPr>
          <p:cNvPr id="13" name="Text 11"/>
          <p:cNvSpPr/>
          <p:nvPr/>
        </p:nvSpPr>
        <p:spPr>
          <a:xfrm>
            <a:off x="6457462" y="3569036"/>
            <a:ext cx="4801733"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"I'll sort the details after I buy."</a:t>
            </a:r>
            <a:endParaRPr lang="en-US" sz="1400" dirty="0"/>
          </a:p>
        </p:txBody>
      </p:sp>
      <p:sp>
        <p:nvSpPr>
          <p:cNvPr id="14" name="Text 12"/>
          <p:cNvSpPr/>
          <p:nvPr/>
        </p:nvSpPr>
        <p:spPr>
          <a:xfrm>
            <a:off x="6457462" y="3858572"/>
            <a:ext cx="4801733"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Nearly every defect in this deck is discoverable before contract and almost none are fixable after. Due diligence is the entire game.</a:t>
            </a:r>
            <a:endParaRPr lang="en-US" sz="1300" dirty="0"/>
          </a:p>
        </p:txBody>
      </p:sp>
      <p:sp>
        <p:nvSpPr>
          <p:cNvPr id="15" name="Text 13"/>
          <p:cNvSpPr/>
          <p:nvPr/>
        </p:nvSpPr>
        <p:spPr>
          <a:xfrm>
            <a:off x="812800" y="6238264"/>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F6F2E9"/>
                </a:solidFill>
                <a:latin typeface="Source Serif 4" pitchFamily="34" charset="0"/>
                <a:ea typeface="Source Serif 4" pitchFamily="34" charset="-122"/>
                <a:cs typeface="Source Serif 4" pitchFamily="34" charset="-120"/>
              </a:rPr>
              <a:t>The whole process, end to end</a:t>
            </a:r>
            <a:endParaRPr lang="en-US" sz="3300" dirty="0"/>
          </a:p>
        </p:txBody>
      </p:sp>
      <p:sp>
        <p:nvSpPr>
          <p:cNvPr id="3" name="Shape 1"/>
          <p:cNvSpPr/>
          <p:nvPr/>
        </p:nvSpPr>
        <p:spPr>
          <a:xfrm>
            <a:off x="812800" y="1603986"/>
            <a:ext cx="2508250" cy="1346139"/>
          </a:xfrm>
          <a:prstGeom prst="roundRect">
            <a:avLst>
              <a:gd name="adj" fmla="val 5661"/>
            </a:avLst>
          </a:prstGeom>
          <a:solidFill>
            <a:srgbClr val="1D3040"/>
          </a:solidFill>
          <a:ln/>
        </p:spPr>
      </p:sp>
      <p:sp>
        <p:nvSpPr>
          <p:cNvPr id="4" name="Text 2"/>
          <p:cNvSpPr/>
          <p:nvPr/>
        </p:nvSpPr>
        <p:spPr>
          <a:xfrm>
            <a:off x="1016000" y="1807186"/>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01   Define</a:t>
            </a:r>
            <a:endParaRPr lang="en-US" sz="1400" dirty="0"/>
          </a:p>
        </p:txBody>
      </p:sp>
      <p:sp>
        <p:nvSpPr>
          <p:cNvPr id="5" name="Text 3"/>
          <p:cNvSpPr/>
          <p:nvPr/>
        </p:nvSpPr>
        <p:spPr>
          <a:xfrm>
            <a:off x="1016000" y="2084022"/>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Budget, region, use case, structure type, hold period.</a:t>
            </a:r>
            <a:endParaRPr lang="en-US" sz="1200" dirty="0"/>
          </a:p>
        </p:txBody>
      </p:sp>
      <p:sp>
        <p:nvSpPr>
          <p:cNvPr id="6" name="Shape 4"/>
          <p:cNvSpPr/>
          <p:nvPr/>
        </p:nvSpPr>
        <p:spPr>
          <a:xfrm>
            <a:off x="3498850" y="1603986"/>
            <a:ext cx="2508250" cy="1346139"/>
          </a:xfrm>
          <a:prstGeom prst="roundRect">
            <a:avLst>
              <a:gd name="adj" fmla="val 5661"/>
            </a:avLst>
          </a:prstGeom>
          <a:solidFill>
            <a:srgbClr val="1D3040"/>
          </a:solidFill>
          <a:ln/>
        </p:spPr>
      </p:sp>
      <p:sp>
        <p:nvSpPr>
          <p:cNvPr id="7" name="Text 5"/>
          <p:cNvSpPr/>
          <p:nvPr/>
        </p:nvSpPr>
        <p:spPr>
          <a:xfrm>
            <a:off x="3702050" y="1807186"/>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02   Fund</a:t>
            </a:r>
            <a:endParaRPr lang="en-US" sz="1400" dirty="0"/>
          </a:p>
        </p:txBody>
      </p:sp>
      <p:sp>
        <p:nvSpPr>
          <p:cNvPr id="8" name="Text 6"/>
          <p:cNvSpPr/>
          <p:nvPr/>
        </p:nvSpPr>
        <p:spPr>
          <a:xfrm>
            <a:off x="3702050" y="2084022"/>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Confirm cash or loan eligibility before viewing anything.</a:t>
            </a:r>
            <a:endParaRPr lang="en-US" sz="1200" dirty="0"/>
          </a:p>
        </p:txBody>
      </p:sp>
      <p:sp>
        <p:nvSpPr>
          <p:cNvPr id="9" name="Shape 7"/>
          <p:cNvSpPr/>
          <p:nvPr/>
        </p:nvSpPr>
        <p:spPr>
          <a:xfrm>
            <a:off x="6184900" y="1603986"/>
            <a:ext cx="2508250" cy="1346139"/>
          </a:xfrm>
          <a:prstGeom prst="roundRect">
            <a:avLst>
              <a:gd name="adj" fmla="val 5661"/>
            </a:avLst>
          </a:prstGeom>
          <a:solidFill>
            <a:srgbClr val="1D3040"/>
          </a:solidFill>
          <a:ln/>
        </p:spPr>
      </p:sp>
      <p:sp>
        <p:nvSpPr>
          <p:cNvPr id="10" name="Text 8"/>
          <p:cNvSpPr/>
          <p:nvPr/>
        </p:nvSpPr>
        <p:spPr>
          <a:xfrm>
            <a:off x="6388100" y="1807186"/>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03   Search</a:t>
            </a:r>
            <a:endParaRPr lang="en-US" sz="1400" dirty="0"/>
          </a:p>
        </p:txBody>
      </p:sp>
      <p:sp>
        <p:nvSpPr>
          <p:cNvPr id="11" name="Text 9"/>
          <p:cNvSpPr/>
          <p:nvPr/>
        </p:nvSpPr>
        <p:spPr>
          <a:xfrm>
            <a:off x="6388100" y="2084022"/>
            <a:ext cx="2164906" cy="688303"/>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Portals, agents, municipal vacant-house banks, off-market.</a:t>
            </a:r>
            <a:endParaRPr lang="en-US" sz="1200" dirty="0"/>
          </a:p>
        </p:txBody>
      </p:sp>
      <p:sp>
        <p:nvSpPr>
          <p:cNvPr id="12" name="Shape 10"/>
          <p:cNvSpPr/>
          <p:nvPr/>
        </p:nvSpPr>
        <p:spPr>
          <a:xfrm>
            <a:off x="8870950" y="1603986"/>
            <a:ext cx="2508250" cy="1346139"/>
          </a:xfrm>
          <a:prstGeom prst="roundRect">
            <a:avLst>
              <a:gd name="adj" fmla="val 5661"/>
            </a:avLst>
          </a:prstGeom>
          <a:solidFill>
            <a:srgbClr val="1D3040"/>
          </a:solidFill>
          <a:ln/>
        </p:spPr>
      </p:sp>
      <p:sp>
        <p:nvSpPr>
          <p:cNvPr id="13" name="Text 11"/>
          <p:cNvSpPr/>
          <p:nvPr/>
        </p:nvSpPr>
        <p:spPr>
          <a:xfrm>
            <a:off x="9074150" y="1807186"/>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04   Inspect</a:t>
            </a:r>
            <a:endParaRPr lang="en-US" sz="1400" dirty="0"/>
          </a:p>
        </p:txBody>
      </p:sp>
      <p:sp>
        <p:nvSpPr>
          <p:cNvPr id="14" name="Text 12"/>
          <p:cNvSpPr/>
          <p:nvPr/>
        </p:nvSpPr>
        <p:spPr>
          <a:xfrm>
            <a:off x="9074150" y="2084022"/>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Site visit, structural survey, renovation quotes.</a:t>
            </a:r>
            <a:endParaRPr lang="en-US" sz="1200" dirty="0"/>
          </a:p>
        </p:txBody>
      </p:sp>
      <p:sp>
        <p:nvSpPr>
          <p:cNvPr id="15" name="Shape 13"/>
          <p:cNvSpPr/>
          <p:nvPr/>
        </p:nvSpPr>
        <p:spPr>
          <a:xfrm>
            <a:off x="812800" y="3127927"/>
            <a:ext cx="2508250" cy="1125171"/>
          </a:xfrm>
          <a:prstGeom prst="roundRect">
            <a:avLst>
              <a:gd name="adj" fmla="val 6772"/>
            </a:avLst>
          </a:prstGeom>
          <a:solidFill>
            <a:srgbClr val="1D3040"/>
          </a:solidFill>
          <a:ln/>
        </p:spPr>
      </p:sp>
      <p:sp>
        <p:nvSpPr>
          <p:cNvPr id="16" name="Text 14"/>
          <p:cNvSpPr/>
          <p:nvPr/>
        </p:nvSpPr>
        <p:spPr>
          <a:xfrm>
            <a:off x="1016000" y="3331127"/>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05   Offer</a:t>
            </a:r>
            <a:endParaRPr lang="en-US" sz="1400" dirty="0"/>
          </a:p>
        </p:txBody>
      </p:sp>
      <p:sp>
        <p:nvSpPr>
          <p:cNvPr id="17" name="Text 15"/>
          <p:cNvSpPr/>
          <p:nvPr/>
        </p:nvSpPr>
        <p:spPr>
          <a:xfrm>
            <a:off x="1016000" y="3607963"/>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Written letter of intent, price and conditions negotiated.</a:t>
            </a:r>
            <a:endParaRPr lang="en-US" sz="1200" dirty="0"/>
          </a:p>
        </p:txBody>
      </p:sp>
      <p:sp>
        <p:nvSpPr>
          <p:cNvPr id="18" name="Shape 16"/>
          <p:cNvSpPr/>
          <p:nvPr/>
        </p:nvSpPr>
        <p:spPr>
          <a:xfrm>
            <a:off x="3498850" y="3127927"/>
            <a:ext cx="2508250" cy="1125171"/>
          </a:xfrm>
          <a:prstGeom prst="roundRect">
            <a:avLst>
              <a:gd name="adj" fmla="val 6772"/>
            </a:avLst>
          </a:prstGeom>
          <a:solidFill>
            <a:srgbClr val="1D3040"/>
          </a:solidFill>
          <a:ln/>
        </p:spPr>
      </p:sp>
      <p:sp>
        <p:nvSpPr>
          <p:cNvPr id="19" name="Text 17"/>
          <p:cNvSpPr/>
          <p:nvPr/>
        </p:nvSpPr>
        <p:spPr>
          <a:xfrm>
            <a:off x="3702050" y="3331127"/>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06   Disclosure</a:t>
            </a:r>
            <a:endParaRPr lang="en-US" sz="1400" dirty="0"/>
          </a:p>
        </p:txBody>
      </p:sp>
      <p:sp>
        <p:nvSpPr>
          <p:cNvPr id="20" name="Text 18"/>
          <p:cNvSpPr/>
          <p:nvPr/>
        </p:nvSpPr>
        <p:spPr>
          <a:xfrm>
            <a:off x="3702050" y="3607963"/>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Important Matters Explanation delivered and read to you.</a:t>
            </a:r>
            <a:endParaRPr lang="en-US" sz="1200" dirty="0"/>
          </a:p>
        </p:txBody>
      </p:sp>
      <p:sp>
        <p:nvSpPr>
          <p:cNvPr id="21" name="Shape 19"/>
          <p:cNvSpPr/>
          <p:nvPr/>
        </p:nvSpPr>
        <p:spPr>
          <a:xfrm>
            <a:off x="6184900" y="3127927"/>
            <a:ext cx="2508250" cy="1125171"/>
          </a:xfrm>
          <a:prstGeom prst="roundRect">
            <a:avLst>
              <a:gd name="adj" fmla="val 6772"/>
            </a:avLst>
          </a:prstGeom>
          <a:solidFill>
            <a:srgbClr val="1D3040"/>
          </a:solidFill>
          <a:ln/>
        </p:spPr>
      </p:sp>
      <p:sp>
        <p:nvSpPr>
          <p:cNvPr id="22" name="Text 20"/>
          <p:cNvSpPr/>
          <p:nvPr/>
        </p:nvSpPr>
        <p:spPr>
          <a:xfrm>
            <a:off x="6388100" y="3331127"/>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07   Contract</a:t>
            </a:r>
            <a:endParaRPr lang="en-US" sz="1400" dirty="0"/>
          </a:p>
        </p:txBody>
      </p:sp>
      <p:sp>
        <p:nvSpPr>
          <p:cNvPr id="23" name="Text 21"/>
          <p:cNvSpPr/>
          <p:nvPr/>
        </p:nvSpPr>
        <p:spPr>
          <a:xfrm>
            <a:off x="6388100" y="3607963"/>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Signature and deposit, typically 5–10% of the price.</a:t>
            </a:r>
            <a:endParaRPr lang="en-US" sz="1200" dirty="0"/>
          </a:p>
        </p:txBody>
      </p:sp>
      <p:sp>
        <p:nvSpPr>
          <p:cNvPr id="24" name="Shape 22"/>
          <p:cNvSpPr/>
          <p:nvPr/>
        </p:nvSpPr>
        <p:spPr>
          <a:xfrm>
            <a:off x="8870950" y="3127927"/>
            <a:ext cx="2508250" cy="1125171"/>
          </a:xfrm>
          <a:prstGeom prst="roundRect">
            <a:avLst>
              <a:gd name="adj" fmla="val 6772"/>
            </a:avLst>
          </a:prstGeom>
          <a:solidFill>
            <a:srgbClr val="1D3040"/>
          </a:solidFill>
          <a:ln/>
        </p:spPr>
      </p:sp>
      <p:sp>
        <p:nvSpPr>
          <p:cNvPr id="25" name="Text 23"/>
          <p:cNvSpPr/>
          <p:nvPr/>
        </p:nvSpPr>
        <p:spPr>
          <a:xfrm>
            <a:off x="9074150" y="3331127"/>
            <a:ext cx="216490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2906B"/>
                </a:solidFill>
                <a:latin typeface="Inter" pitchFamily="34" charset="0"/>
                <a:ea typeface="Inter" pitchFamily="34" charset="-122"/>
                <a:cs typeface="Inter" pitchFamily="34" charset="-120"/>
              </a:rPr>
              <a:t>08   Settle</a:t>
            </a:r>
            <a:endParaRPr lang="en-US" sz="1400" dirty="0"/>
          </a:p>
        </p:txBody>
      </p:sp>
      <p:sp>
        <p:nvSpPr>
          <p:cNvPr id="26" name="Text 24"/>
          <p:cNvSpPr/>
          <p:nvPr/>
        </p:nvSpPr>
        <p:spPr>
          <a:xfrm>
            <a:off x="9074150" y="3607963"/>
            <a:ext cx="2164906" cy="467336"/>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9B7C0"/>
                </a:solidFill>
                <a:latin typeface="Inter" pitchFamily="34" charset="0"/>
                <a:ea typeface="Inter" pitchFamily="34" charset="-122"/>
                <a:cs typeface="Inter" pitchFamily="34" charset="-120"/>
              </a:rPr>
              <a:t>Balance paid, title registered, keys handed over same day.</a:t>
            </a:r>
            <a:endParaRPr lang="en-US" sz="1200" dirty="0"/>
          </a:p>
        </p:txBody>
      </p:sp>
      <p:sp>
        <p:nvSpPr>
          <p:cNvPr id="27" name="Text 25"/>
          <p:cNvSpPr/>
          <p:nvPr/>
        </p:nvSpPr>
        <p:spPr>
          <a:xfrm>
            <a:off x="812800" y="4583295"/>
            <a:ext cx="9810750" cy="26477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9B7C0"/>
                </a:solidFill>
                <a:latin typeface="Inter" pitchFamily="34" charset="0"/>
                <a:ea typeface="Inter" pitchFamily="34" charset="-122"/>
                <a:cs typeface="Inter" pitchFamily="34" charset="-120"/>
              </a:rPr>
              <a:t>Typical elapsed time from accepted offer to keys: </a:t>
            </a:r>
            <a:r>
              <a:rPr lang="en-US" sz="1300" b="1" dirty="0">
                <a:solidFill>
                  <a:srgbClr val="A9B7C0"/>
                </a:solidFill>
                <a:latin typeface="Inter" pitchFamily="34" charset="0"/>
                <a:ea typeface="Inter" pitchFamily="34" charset="-122"/>
                <a:cs typeface="Inter" pitchFamily="34" charset="-120"/>
              </a:rPr>
              <a:t>four to eight weeks</a:t>
            </a:r>
            <a:r>
              <a:rPr lang="en-US" sz="1300" dirty="0">
                <a:solidFill>
                  <a:srgbClr val="A9B7C0"/>
                </a:solidFill>
                <a:latin typeface="Inter" pitchFamily="34" charset="0"/>
                <a:ea typeface="Inter" pitchFamily="34" charset="-122"/>
                <a:cs typeface="Inter" pitchFamily="34" charset="-120"/>
              </a:rPr>
              <a:t> for a cash purchase, eight to sixteen with a mortgage.</a:t>
            </a:r>
            <a:endParaRPr lang="en-US" sz="1300" dirty="0"/>
          </a:p>
        </p:txBody>
      </p:sp>
      <p:sp>
        <p:nvSpPr>
          <p:cNvPr id="28" name="Text 26"/>
          <p:cNvSpPr/>
          <p:nvPr/>
        </p:nvSpPr>
        <p:spPr>
          <a:xfrm>
            <a:off x="812800" y="6238264"/>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7A3"/>
                </a:solidFill>
                <a:latin typeface="Inter" pitchFamily="34" charset="0"/>
                <a:ea typeface="Inter" pitchFamily="34" charset="-122"/>
                <a:cs typeface="Inter" pitchFamily="34" charset="-120"/>
              </a:rPr>
              <a:t>YAMA-VISTA  ·  japancheaphouses.com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The five things people mean by "a house in Japan"</a:t>
            </a:r>
            <a:endParaRPr lang="en-US" sz="3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53186"/>
          <a:ext cx="10566401" cy="3886689"/>
        </p:xfrm>
        <a:graphic>
          <a:graphicData uri="http://schemas.openxmlformats.org/drawingml/2006/table">
            <a:tbl>
              <a:tblPr/>
              <a:tblGrid>
                <a:gridCol w="2641600"/>
                <a:gridCol w="2641600"/>
                <a:gridCol w="2641600"/>
                <a:gridCol w="2641600"/>
              </a:tblGrid>
              <a:tr h="462573">
                <a:tc>
                  <a:txBody>
                    <a:bodyPr/>
                    <a:lstStyle/>
                    <a:p>
                      <a:pPr indent="0" marL="0">
                        <a:lnSpc>
                          <a:spcPts val="1750"/>
                        </a:lnSpc>
                        <a:buNone/>
                      </a:pPr>
                      <a:r>
                        <a:rPr lang="en-US" sz="1250" b="1" dirty="0">
                          <a:solidFill>
                            <a:srgbClr val="F6F2E9"/>
                          </a:solidFill>
                          <a:latin typeface="Inter" pitchFamily="34" charset="0"/>
                          <a:ea typeface="Inter" pitchFamily="34" charset="-122"/>
                          <a:cs typeface="Inter" pitchFamily="34" charset="-120"/>
                        </a:rPr>
                        <a:t>Type</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c>
                  <a:txBody>
                    <a:bodyPr/>
                    <a:lstStyle/>
                    <a:p>
                      <a:pPr indent="0" marL="0">
                        <a:lnSpc>
                          <a:spcPts val="1750"/>
                        </a:lnSpc>
                        <a:buNone/>
                      </a:pPr>
                      <a:r>
                        <a:rPr lang="en-US" sz="1250" b="1" dirty="0">
                          <a:solidFill>
                            <a:srgbClr val="F6F2E9"/>
                          </a:solidFill>
                          <a:latin typeface="Inter" pitchFamily="34" charset="0"/>
                          <a:ea typeface="Inter" pitchFamily="34" charset="-122"/>
                          <a:cs typeface="Inter" pitchFamily="34" charset="-120"/>
                        </a:rPr>
                        <a:t>What you own</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c>
                  <a:txBody>
                    <a:bodyPr/>
                    <a:lstStyle/>
                    <a:p>
                      <a:pPr indent="0" marL="0">
                        <a:lnSpc>
                          <a:spcPts val="1750"/>
                        </a:lnSpc>
                        <a:buNone/>
                      </a:pPr>
                      <a:r>
                        <a:rPr lang="en-US" sz="1250" b="1" dirty="0">
                          <a:solidFill>
                            <a:srgbClr val="F6F2E9"/>
                          </a:solidFill>
                          <a:latin typeface="Inter" pitchFamily="34" charset="0"/>
                          <a:ea typeface="Inter" pitchFamily="34" charset="-122"/>
                          <a:cs typeface="Inter" pitchFamily="34" charset="-120"/>
                        </a:rPr>
                        <a:t>Suits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c>
                  <a:txBody>
                    <a:bodyPr/>
                    <a:lstStyle/>
                    <a:p>
                      <a:pPr indent="0" marL="0">
                        <a:lnSpc>
                          <a:spcPts val="1750"/>
                        </a:lnSpc>
                        <a:buNone/>
                      </a:pPr>
                      <a:r>
                        <a:rPr lang="en-US" sz="1250" b="1" dirty="0">
                          <a:solidFill>
                            <a:srgbClr val="F6F2E9"/>
                          </a:solidFill>
                          <a:latin typeface="Inter" pitchFamily="34" charset="0"/>
                          <a:ea typeface="Inter" pitchFamily="34" charset="-122"/>
                          <a:cs typeface="Inter" pitchFamily="34" charset="-120"/>
                        </a:rPr>
                        <a:t>Main risk</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r>
              <a:tr h="684823">
                <a:tc>
                  <a:txBody>
                    <a:bodyPr/>
                    <a:lstStyle/>
                    <a:p>
                      <a:pPr indent="0" marL="0">
                        <a:lnSpc>
                          <a:spcPts val="1750"/>
                        </a:lnSpc>
                        <a:buNone/>
                      </a:pPr>
                      <a:r>
                        <a:rPr lang="en-US" sz="1250" dirty="0">
                          <a:solidFill>
                            <a:srgbClr val="14232E"/>
                          </a:solidFill>
                          <a:latin typeface="Inter" pitchFamily="34" charset="0"/>
                          <a:ea typeface="Inter" pitchFamily="34" charset="-122"/>
                          <a:cs typeface="Inter" pitchFamily="34" charset="-120"/>
                        </a:rPr>
                        <a:t>Detached house</a:t>
                      </a:r>
                      <a:endParaRPr lang="en-US" sz="1250" dirty="0">
                        <a:latin typeface="Inter" charset="0"/>
                        <a:ea typeface="Inter" charset="0"/>
                        <a:cs typeface="Inter" charset="0"/>
                      </a:endParaRPr>
                    </a:p>
                    <a:p>
                      <a:pPr indent="0" marL="0">
                        <a:lnSpc>
                          <a:spcPts val="1750"/>
                        </a:lnSpc>
                        <a:buNone/>
                      </a:pPr>
                      <a:r>
                        <a:rPr lang="en-US" sz="1250" dirty="0">
                          <a:solidFill>
                            <a:srgbClr val="14232E"/>
                          </a:solidFill>
                          <a:latin typeface="Inter" pitchFamily="34" charset="0"/>
                          <a:ea typeface="Inter" pitchFamily="34" charset="-122"/>
                          <a:cs typeface="Inter" pitchFamily="34" charset="-120"/>
                        </a:rPr>
                        <a:t>kodate</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Land and building outright</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Owner-occupiers, renovators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Structure and road access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84823">
                <a:tc>
                  <a:txBody>
                    <a:bodyPr/>
                    <a:lstStyle/>
                    <a:p>
                      <a:pPr indent="0" marL="0">
                        <a:lnSpc>
                          <a:spcPts val="1750"/>
                        </a:lnSpc>
                        <a:buNone/>
                      </a:pPr>
                      <a:r>
                        <a:rPr lang="en-US" sz="1250" dirty="0">
                          <a:solidFill>
                            <a:srgbClr val="14232E"/>
                          </a:solidFill>
                          <a:latin typeface="Inter" pitchFamily="34" charset="0"/>
                          <a:ea typeface="Inter" pitchFamily="34" charset="-122"/>
                          <a:cs typeface="Inter" pitchFamily="34" charset="-120"/>
                        </a:rPr>
                        <a:t>Condominium</a:t>
                      </a:r>
                      <a:endParaRPr lang="en-US" sz="1250" dirty="0">
                        <a:latin typeface="Inter" charset="0"/>
                        <a:ea typeface="Inter" charset="0"/>
                        <a:cs typeface="Inter" charset="0"/>
                      </a:endParaRPr>
                    </a:p>
                    <a:p>
                      <a:pPr indent="0" marL="0">
                        <a:lnSpc>
                          <a:spcPts val="1750"/>
                        </a:lnSpc>
                        <a:buNone/>
                      </a:pPr>
                      <a:r>
                        <a:rPr lang="en-US" sz="1250" dirty="0">
                          <a:solidFill>
                            <a:srgbClr val="14232E"/>
                          </a:solidFill>
                          <a:latin typeface="Inter" pitchFamily="34" charset="0"/>
                          <a:ea typeface="Inter" pitchFamily="34" charset="-122"/>
                          <a:cs typeface="Inter" pitchFamily="34" charset="-120"/>
                        </a:rPr>
                        <a:t>mansion</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A unit plus a share of the land</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City living, easy letting</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Underfunded repair reserve</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84823">
                <a:tc>
                  <a:txBody>
                    <a:bodyPr/>
                    <a:lstStyle/>
                    <a:p>
                      <a:pPr indent="0" marL="0">
                        <a:lnSpc>
                          <a:spcPts val="1750"/>
                        </a:lnSpc>
                        <a:buNone/>
                      </a:pPr>
                      <a:r>
                        <a:rPr lang="en-US" sz="1250" dirty="0">
                          <a:solidFill>
                            <a:srgbClr val="14232E"/>
                          </a:solidFill>
                          <a:latin typeface="Inter" pitchFamily="34" charset="0"/>
                          <a:ea typeface="Inter" pitchFamily="34" charset="-122"/>
                          <a:cs typeface="Inter" pitchFamily="34" charset="-120"/>
                        </a:rPr>
                        <a:t>Vacant house</a:t>
                      </a:r>
                      <a:endParaRPr lang="en-US" sz="1250" dirty="0">
                        <a:latin typeface="Inter" charset="0"/>
                        <a:ea typeface="Inter" charset="0"/>
                        <a:cs typeface="Inter" charset="0"/>
                      </a:endParaRPr>
                    </a:p>
                    <a:p>
                      <a:pPr indent="0" marL="0">
                        <a:lnSpc>
                          <a:spcPts val="1750"/>
                        </a:lnSpc>
                        <a:buNone/>
                      </a:pPr>
                      <a:r>
                        <a:rPr lang="en-US" sz="1250" dirty="0">
                          <a:solidFill>
                            <a:srgbClr val="14232E"/>
                          </a:solidFill>
                          <a:latin typeface="Inter" pitchFamily="34" charset="0"/>
                          <a:ea typeface="Inter" pitchFamily="34" charset="-122"/>
                          <a:cs typeface="Inter" pitchFamily="34" charset="-120"/>
                        </a:rPr>
                        <a:t>akiya</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Usually land plus a liability</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Hands-on buyers with cash</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Renovation cost, no financing</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84823">
                <a:tc>
                  <a:txBody>
                    <a:bodyPr/>
                    <a:lstStyle/>
                    <a:p>
                      <a:pPr indent="0" marL="0">
                        <a:lnSpc>
                          <a:spcPts val="1750"/>
                        </a:lnSpc>
                        <a:buNone/>
                      </a:pPr>
                      <a:r>
                        <a:rPr lang="en-US" sz="1250" dirty="0">
                          <a:solidFill>
                            <a:srgbClr val="14232E"/>
                          </a:solidFill>
                          <a:latin typeface="Inter" pitchFamily="34" charset="0"/>
                          <a:ea typeface="Inter" pitchFamily="34" charset="-122"/>
                          <a:cs typeface="Inter" pitchFamily="34" charset="-120"/>
                        </a:rPr>
                        <a:t>Traditional house</a:t>
                      </a:r>
                      <a:endParaRPr lang="en-US" sz="1250" dirty="0">
                        <a:latin typeface="Inter" charset="0"/>
                        <a:ea typeface="Inter" charset="0"/>
                        <a:cs typeface="Inter" charset="0"/>
                      </a:endParaRPr>
                    </a:p>
                    <a:p>
                      <a:pPr indent="0" marL="0">
                        <a:lnSpc>
                          <a:spcPts val="1750"/>
                        </a:lnSpc>
                        <a:buNone/>
                      </a:pPr>
                      <a:r>
                        <a:rPr lang="en-US" sz="1250" dirty="0">
                          <a:solidFill>
                            <a:srgbClr val="14232E"/>
                          </a:solidFill>
                          <a:latin typeface="Inter" pitchFamily="34" charset="0"/>
                          <a:ea typeface="Inter" pitchFamily="34" charset="-122"/>
                          <a:cs typeface="Inter" pitchFamily="34" charset="-120"/>
                        </a:rPr>
                        <a:t>kominka</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Pre-war timber frame and land</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Guesthouses, long projects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Seismic upgrade, specialist trades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84823">
                <a:tc>
                  <a:txBody>
                    <a:bodyPr/>
                    <a:lstStyle/>
                    <a:p>
                      <a:pPr indent="0" marL="0">
                        <a:lnSpc>
                          <a:spcPts val="1750"/>
                        </a:lnSpc>
                        <a:buNone/>
                      </a:pPr>
                      <a:r>
                        <a:rPr lang="en-US" sz="1250" dirty="0">
                          <a:solidFill>
                            <a:srgbClr val="14232E"/>
                          </a:solidFill>
                          <a:latin typeface="Inter" pitchFamily="34" charset="0"/>
                          <a:ea typeface="Inter" pitchFamily="34" charset="-122"/>
                          <a:cs typeface="Inter" pitchFamily="34" charset="-120"/>
                        </a:rPr>
                        <a:t>Resort property</a:t>
                      </a:r>
                      <a:endParaRPr lang="en-US" sz="1250" dirty="0">
                        <a:latin typeface="Inter" charset="0"/>
                        <a:ea typeface="Inter" charset="0"/>
                        <a:cs typeface="Inter" charset="0"/>
                      </a:endParaRPr>
                    </a:p>
                    <a:p>
                      <a:pPr indent="0" marL="0">
                        <a:lnSpc>
                          <a:spcPts val="1750"/>
                        </a:lnSpc>
                        <a:buNone/>
                      </a:pPr>
                      <a:r>
                        <a:rPr lang="en-US" sz="1250" dirty="0">
                          <a:solidFill>
                            <a:srgbClr val="14232E"/>
                          </a:solidFill>
                          <a:latin typeface="Inter" pitchFamily="34" charset="0"/>
                          <a:ea typeface="Inter" pitchFamily="34" charset="-122"/>
                          <a:cs typeface="Inter" pitchFamily="34" charset="-120"/>
                        </a:rPr>
                        <a:t>bessou</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Land, or a leasehold on land</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Ski and onsen users</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750"/>
                        </a:lnSpc>
                        <a:buNone/>
                      </a:pPr>
                      <a:r>
                        <a:rPr lang="en-US" sz="1250" dirty="0">
                          <a:solidFill>
                            <a:srgbClr val="5A6470"/>
                          </a:solidFill>
                          <a:latin typeface="Inter" pitchFamily="34" charset="0"/>
                          <a:ea typeface="Inter" pitchFamily="34" charset="-122"/>
                          <a:cs typeface="Inter" pitchFamily="34" charset="-120"/>
                        </a:rPr>
                        <a:t>Estate fees, thin resale market</a:t>
                      </a:r>
                      <a:endParaRPr lang="en-US" sz="1250" dirty="0">
                        <a:latin typeface="Inter" charset="0"/>
                        <a:ea typeface="Inter" charset="0"/>
                        <a:cs typeface="Inter" charset="0"/>
                      </a:endParaRPr>
                    </a:p>
                  </a:txBody>
                  <a:tcPr marL="127000" marR="127000" marT="114300" marB="1143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E5D8"/>
        </a:solidFill>
      </p:bgPr>
    </p:bg>
    <p:spTree>
      <p:nvGrpSpPr>
        <p:cNvPr id="1" name=""/>
        <p:cNvGrpSpPr/>
        <p:nvPr/>
      </p:nvGrpSpPr>
      <p:grpSpPr>
        <a:xfrm>
          <a:off x="0" y="0"/>
          <a:ext cx="0" cy="0"/>
          <a:chOff x="0" y="0"/>
          <a:chExt cx="0" cy="0"/>
        </a:xfrm>
      </p:grpSpPr>
      <p:sp>
        <p:nvSpPr>
          <p:cNvPr id="2" name="Text 0"/>
          <p:cNvSpPr/>
          <p:nvPr/>
        </p:nvSpPr>
        <p:spPr>
          <a:xfrm>
            <a:off x="812800" y="2315217"/>
            <a:ext cx="4055110" cy="1295400"/>
          </a:xfrm>
          <a:prstGeom prst="rect">
            <a:avLst/>
          </a:prstGeom>
          <a:noFill/>
          <a:ln/>
        </p:spPr>
        <p:txBody>
          <a:bodyPr wrap="square" lIns="0" tIns="0" rIns="0" bIns="0" rtlCol="0" anchor="t">
            <a:normAutofit/>
          </a:bodyPr>
          <a:lstStyle/>
          <a:p>
            <a:pPr algn="l" indent="0" marL="0">
              <a:lnSpc>
                <a:spcPts val="10000"/>
              </a:lnSpc>
              <a:buNone/>
            </a:pPr>
            <a:r>
              <a:rPr lang="en-US" sz="10000" dirty="0">
                <a:solidFill>
                  <a:srgbClr val="B4462C"/>
                </a:solidFill>
                <a:latin typeface="Source Serif 4" pitchFamily="34" charset="0"/>
                <a:ea typeface="Source Serif 4" pitchFamily="34" charset="-122"/>
                <a:cs typeface="Source Serif 4" pitchFamily="34" charset="-120"/>
              </a:rPr>
              <a:t>22</a:t>
            </a:r>
            <a:endParaRPr lang="en-US" sz="10000" dirty="0"/>
          </a:p>
        </p:txBody>
      </p:sp>
      <p:sp>
        <p:nvSpPr>
          <p:cNvPr id="3" name="Text 1"/>
          <p:cNvSpPr/>
          <p:nvPr/>
        </p:nvSpPr>
        <p:spPr>
          <a:xfrm>
            <a:off x="812800" y="3712217"/>
            <a:ext cx="4055110" cy="652768"/>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4232E"/>
                </a:solidFill>
                <a:latin typeface="Inter" pitchFamily="34" charset="0"/>
                <a:ea typeface="Inter" pitchFamily="34" charset="-122"/>
                <a:cs typeface="Inter" pitchFamily="34" charset="-120"/>
              </a:rPr>
              <a:t>years is the statutory useful life of a wooden house</a:t>
            </a:r>
            <a:endParaRPr lang="en-US" sz="1900" dirty="0"/>
          </a:p>
        </p:txBody>
      </p:sp>
      <p:sp>
        <p:nvSpPr>
          <p:cNvPr id="4" name="Text 2"/>
          <p:cNvSpPr/>
          <p:nvPr/>
        </p:nvSpPr>
        <p:spPr>
          <a:xfrm>
            <a:off x="5359400" y="1031571"/>
            <a:ext cx="6200394" cy="90170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14232E"/>
                </a:solidFill>
                <a:latin typeface="Source Serif 4" pitchFamily="34" charset="0"/>
                <a:ea typeface="Source Serif 4" pitchFamily="34" charset="-122"/>
                <a:cs typeface="Source Serif 4" pitchFamily="34" charset="-120"/>
              </a:rPr>
              <a:t>The building is a depreciating asset. The land is the asset.</a:t>
            </a:r>
            <a:endParaRPr lang="en-US" sz="3000" dirty="0"/>
          </a:p>
        </p:txBody>
      </p:sp>
      <p:sp>
        <p:nvSpPr>
          <p:cNvPr id="5" name="Text 3"/>
          <p:cNvSpPr/>
          <p:nvPr/>
        </p:nvSpPr>
        <p:spPr>
          <a:xfrm>
            <a:off x="5359400" y="2111071"/>
            <a:ext cx="6200394"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Japanese tax law depreciates a timber-framed house over 22 years, and the market broadly follows: by roughly the mid-twenties a standard wooden house is valued at close to nothing, regardless of its actual condition. This is why a habitable house in a rural town can sell for less than a used car.</a:t>
            </a:r>
            <a:endParaRPr lang="en-US" sz="1300" dirty="0"/>
          </a:p>
        </p:txBody>
      </p:sp>
      <p:sp>
        <p:nvSpPr>
          <p:cNvPr id="6" name="Text 4"/>
          <p:cNvSpPr/>
          <p:nvPr/>
        </p:nvSpPr>
        <p:spPr>
          <a:xfrm>
            <a:off x="5359400" y="3304871"/>
            <a:ext cx="6200394"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Two consequences follow. First, when you buy an older house you are mostly buying the plot — so judge the plot first. Second, money spent on renovation rarely returns on resale; spend it because you want to live there, not because you expect to recover it.</a:t>
            </a:r>
            <a:endParaRPr lang="en-US" sz="1300" dirty="0"/>
          </a:p>
        </p:txBody>
      </p:sp>
      <p:sp>
        <p:nvSpPr>
          <p:cNvPr id="7" name="Shape 5"/>
          <p:cNvSpPr/>
          <p:nvPr/>
        </p:nvSpPr>
        <p:spPr>
          <a:xfrm>
            <a:off x="5359400" y="4498671"/>
            <a:ext cx="6019800" cy="1124530"/>
          </a:xfrm>
          <a:prstGeom prst="roundRect">
            <a:avLst>
              <a:gd name="adj" fmla="val 4517"/>
            </a:avLst>
          </a:prstGeom>
          <a:solidFill>
            <a:srgbClr val="FFFFFF"/>
          </a:solidFill>
          <a:ln/>
        </p:spPr>
      </p:sp>
      <p:sp>
        <p:nvSpPr>
          <p:cNvPr id="8" name="Shape 6"/>
          <p:cNvSpPr/>
          <p:nvPr/>
        </p:nvSpPr>
        <p:spPr>
          <a:xfrm>
            <a:off x="5378450" y="4498671"/>
            <a:ext cx="0" cy="1124530"/>
          </a:xfrm>
          <a:prstGeom prst="line">
            <a:avLst/>
          </a:prstGeom>
          <a:noFill/>
          <a:ln w="38100">
            <a:solidFill>
              <a:srgbClr val="B4462C"/>
            </a:solidFill>
            <a:prstDash val="solid"/>
          </a:ln>
        </p:spPr>
      </p:sp>
      <p:sp>
        <p:nvSpPr>
          <p:cNvPr id="9" name="Text 7"/>
          <p:cNvSpPr/>
          <p:nvPr/>
        </p:nvSpPr>
        <p:spPr>
          <a:xfrm>
            <a:off x="5599723" y="4701871"/>
            <a:ext cx="5743565"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4232E"/>
                </a:solidFill>
                <a:latin typeface="Inter" pitchFamily="34" charset="0"/>
                <a:ea typeface="Inter" pitchFamily="34" charset="-122"/>
                <a:cs typeface="Inter" pitchFamily="34" charset="-120"/>
              </a:rPr>
              <a:t>Reinforced-concrete condominiums depreciate far more slowly and hold value better in cities — but they carry monthly costs a detached house does not.</a:t>
            </a:r>
            <a:endParaRPr lang="en-US" sz="1300" dirty="0"/>
          </a:p>
        </p:txBody>
      </p:sp>
      <p:sp>
        <p:nvSpPr>
          <p:cNvPr id="10" name="Text 8"/>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Check what right to the land you are being sold</a:t>
            </a:r>
            <a:endParaRPr lang="en-US" sz="3300" dirty="0"/>
          </a:p>
        </p:txBody>
      </p:sp>
      <p:sp>
        <p:nvSpPr>
          <p:cNvPr id="3" name="Shape 1"/>
          <p:cNvSpPr/>
          <p:nvPr/>
        </p:nvSpPr>
        <p:spPr>
          <a:xfrm>
            <a:off x="815975" y="1556361"/>
            <a:ext cx="5175250" cy="2810699"/>
          </a:xfrm>
          <a:prstGeom prst="roundRect">
            <a:avLst>
              <a:gd name="adj" fmla="val 2598"/>
            </a:avLst>
          </a:prstGeom>
          <a:solidFill>
            <a:srgbClr val="FFFFFF"/>
          </a:solidFill>
          <a:ln w="6350">
            <a:solidFill>
              <a:srgbClr val="DDD6C6"/>
            </a:solidFill>
            <a:prstDash val="solid"/>
          </a:ln>
        </p:spPr>
      </p:sp>
      <p:sp>
        <p:nvSpPr>
          <p:cNvPr id="4" name="Text 2"/>
          <p:cNvSpPr/>
          <p:nvPr/>
        </p:nvSpPr>
        <p:spPr>
          <a:xfrm>
            <a:off x="1098062" y="1838446"/>
            <a:ext cx="4749409" cy="26923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E7161"/>
                </a:solidFill>
                <a:latin typeface="Inter" pitchFamily="34" charset="0"/>
                <a:ea typeface="Inter" pitchFamily="34" charset="-122"/>
                <a:cs typeface="Inter" pitchFamily="34" charset="-120"/>
              </a:rPr>
              <a:t>Freehold   shoyuken</a:t>
            </a:r>
            <a:endParaRPr lang="en-US" sz="1600" dirty="0"/>
          </a:p>
        </p:txBody>
      </p:sp>
      <p:sp>
        <p:nvSpPr>
          <p:cNvPr id="5" name="Text 3"/>
          <p:cNvSpPr/>
          <p:nvPr/>
        </p:nvSpPr>
        <p:spPr>
          <a:xfrm>
            <a:off x="1098062" y="2183879"/>
            <a:ext cx="4749409"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You own the land itself, permanently, with no ground rent and no landlord. It can be sold, mortgaged, rebuilt on and inherited freely. This is what most listings are, and what you should assume you want.</a:t>
            </a:r>
            <a:endParaRPr lang="en-US" sz="1300" dirty="0"/>
          </a:p>
        </p:txBody>
      </p:sp>
      <p:sp>
        <p:nvSpPr>
          <p:cNvPr id="6" name="Text 4"/>
          <p:cNvSpPr/>
          <p:nvPr/>
        </p:nvSpPr>
        <p:spPr>
          <a:xfrm>
            <a:off x="1098062" y="3276079"/>
            <a:ext cx="4749409" cy="817807"/>
          </a:xfrm>
          <a:prstGeom prst="rect">
            <a:avLst/>
          </a:prstGeom>
          <a:noFill/>
          <a:ln/>
        </p:spPr>
        <p:txBody>
          <a:bodyPr wrap="square" lIns="0" tIns="0" rIns="0" bIns="0" rtlCol="0" anchor="t">
            <a:normAutofit/>
          </a:bodyPr>
          <a:lstStyle/>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No expiry and no renewal fee</a:t>
            </a:r>
            <a:endParaRPr lang="en-US" sz="1300" dirty="0"/>
          </a:p>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Banks will lend against it</a:t>
            </a:r>
            <a:endParaRPr lang="en-US" sz="1300" dirty="0"/>
          </a:p>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Resale market is the full market</a:t>
            </a:r>
            <a:endParaRPr lang="en-US" sz="1300" dirty="0"/>
          </a:p>
        </p:txBody>
      </p:sp>
      <p:sp>
        <p:nvSpPr>
          <p:cNvPr id="7" name="Shape 5"/>
          <p:cNvSpPr/>
          <p:nvPr/>
        </p:nvSpPr>
        <p:spPr>
          <a:xfrm>
            <a:off x="6200775" y="1556361"/>
            <a:ext cx="5175250" cy="2810699"/>
          </a:xfrm>
          <a:prstGeom prst="roundRect">
            <a:avLst>
              <a:gd name="adj" fmla="val 2598"/>
            </a:avLst>
          </a:prstGeom>
          <a:solidFill>
            <a:srgbClr val="FFFFFF"/>
          </a:solidFill>
          <a:ln w="6350">
            <a:solidFill>
              <a:srgbClr val="DDD6C6"/>
            </a:solidFill>
            <a:prstDash val="solid"/>
          </a:ln>
        </p:spPr>
      </p:sp>
      <p:sp>
        <p:nvSpPr>
          <p:cNvPr id="8" name="Text 6"/>
          <p:cNvSpPr/>
          <p:nvPr/>
        </p:nvSpPr>
        <p:spPr>
          <a:xfrm>
            <a:off x="6482862" y="1838446"/>
            <a:ext cx="4749409" cy="26923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62C"/>
                </a:solidFill>
                <a:latin typeface="Inter" pitchFamily="34" charset="0"/>
                <a:ea typeface="Inter" pitchFamily="34" charset="-122"/>
                <a:cs typeface="Inter" pitchFamily="34" charset="-120"/>
              </a:rPr>
              <a:t>Leasehold   shakuchiken</a:t>
            </a:r>
            <a:endParaRPr lang="en-US" sz="1600" dirty="0"/>
          </a:p>
        </p:txBody>
      </p:sp>
      <p:sp>
        <p:nvSpPr>
          <p:cNvPr id="9" name="Text 7"/>
          <p:cNvSpPr/>
          <p:nvPr/>
        </p:nvSpPr>
        <p:spPr>
          <a:xfrm>
            <a:off x="6482862" y="2183879"/>
            <a:ext cx="4749409"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You own only the building and rent the ground beneath it. Common in resort areas and some older city blocks, and a frequent reason a listing looks unusually cheap.</a:t>
            </a:r>
            <a:endParaRPr lang="en-US" sz="1300" dirty="0"/>
          </a:p>
        </p:txBody>
      </p:sp>
      <p:sp>
        <p:nvSpPr>
          <p:cNvPr id="10" name="Text 8"/>
          <p:cNvSpPr/>
          <p:nvPr/>
        </p:nvSpPr>
        <p:spPr>
          <a:xfrm>
            <a:off x="6482862" y="3028429"/>
            <a:ext cx="4749409" cy="1081942"/>
          </a:xfrm>
          <a:prstGeom prst="rect">
            <a:avLst/>
          </a:prstGeom>
          <a:noFill/>
          <a:ln/>
        </p:spPr>
        <p:txBody>
          <a:bodyPr wrap="square" lIns="0" tIns="0" rIns="0" bIns="0" rtlCol="0" anchor="t">
            <a:normAutofit/>
          </a:bodyPr>
          <a:lstStyle/>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Monthly or annual ground rent forever</a:t>
            </a:r>
            <a:endParaRPr lang="en-US" sz="1300" dirty="0"/>
          </a:p>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Fees to the landowner to sell, rebuild or renovate</a:t>
            </a:r>
            <a:endParaRPr lang="en-US" sz="1300" dirty="0"/>
          </a:p>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A fixed-term lease can expire, with the land returned cleared</a:t>
            </a:r>
            <a:endParaRPr lang="en-US" sz="1300" dirty="0"/>
          </a:p>
          <a:p>
            <a:pPr algn="l" marL="342900" indent="-342900">
              <a:lnSpc>
                <a:spcPts val="2080"/>
              </a:lnSpc>
              <a:buSzPct val="100000"/>
              <a:buChar char="•"/>
            </a:pPr>
            <a:r>
              <a:rPr lang="en-US" sz="1300" dirty="0">
                <a:solidFill>
                  <a:srgbClr val="5A6470"/>
                </a:solidFill>
                <a:latin typeface="Inter" pitchFamily="34" charset="0"/>
                <a:ea typeface="Inter" pitchFamily="34" charset="-122"/>
                <a:cs typeface="Inter" pitchFamily="34" charset="-120"/>
              </a:rPr>
              <a:t>Most lenders will not finance it</a:t>
            </a:r>
            <a:endParaRPr lang="en-US" sz="1300" dirty="0"/>
          </a:p>
        </p:txBody>
      </p:sp>
      <p:sp>
        <p:nvSpPr>
          <p:cNvPr id="11" name="Text 9"/>
          <p:cNvSpPr/>
          <p:nvPr/>
        </p:nvSpPr>
        <p:spPr>
          <a:xfrm>
            <a:off x="812800" y="4649636"/>
            <a:ext cx="9810750" cy="26477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Ask for the property register extract and confirm the right in writing. "Land included" in an advertisement is not evidence.</a:t>
            </a:r>
            <a:endParaRPr lang="en-US" sz="1300" dirty="0"/>
          </a:p>
        </p:txBody>
      </p:sp>
      <p:sp>
        <p:nvSpPr>
          <p:cNvPr id="12" name="Text 10"/>
          <p:cNvSpPr/>
          <p:nvPr/>
        </p:nvSpPr>
        <p:spPr>
          <a:xfrm>
            <a:off x="812800" y="6238264"/>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947371"/>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F6F2E9"/>
                </a:solidFill>
                <a:latin typeface="Source Serif 4" pitchFamily="34" charset="0"/>
                <a:ea typeface="Source Serif 4" pitchFamily="34" charset="-122"/>
                <a:cs typeface="Source Serif 4" pitchFamily="34" charset="-120"/>
              </a:rPr>
              <a:t>Two dates decide how a house performs in an earthquake</a:t>
            </a:r>
            <a:endParaRPr lang="en-US" sz="3300" dirty="0"/>
          </a:p>
        </p:txBody>
      </p:sp>
      <p:sp>
        <p:nvSpPr>
          <p:cNvPr id="3" name="Shape 1"/>
          <p:cNvSpPr/>
          <p:nvPr/>
        </p:nvSpPr>
        <p:spPr>
          <a:xfrm>
            <a:off x="812800" y="2014172"/>
            <a:ext cx="3403600" cy="2926068"/>
          </a:xfrm>
          <a:prstGeom prst="roundRect">
            <a:avLst>
              <a:gd name="adj" fmla="val 2604"/>
            </a:avLst>
          </a:prstGeom>
          <a:solidFill>
            <a:srgbClr val="1D3040"/>
          </a:solidFill>
          <a:ln/>
        </p:spPr>
      </p:sp>
      <p:sp>
        <p:nvSpPr>
          <p:cNvPr id="4" name="Text 2"/>
          <p:cNvSpPr/>
          <p:nvPr/>
        </p:nvSpPr>
        <p:spPr>
          <a:xfrm>
            <a:off x="1066800" y="2268172"/>
            <a:ext cx="2982468" cy="284468"/>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2906B"/>
                </a:solidFill>
                <a:latin typeface="Inter" pitchFamily="34" charset="0"/>
                <a:ea typeface="Inter" pitchFamily="34" charset="-122"/>
                <a:cs typeface="Inter" pitchFamily="34" charset="-120"/>
              </a:rPr>
              <a:t>Before June 1981</a:t>
            </a:r>
            <a:endParaRPr lang="en-US" sz="1700" dirty="0"/>
          </a:p>
        </p:txBody>
      </p:sp>
      <p:sp>
        <p:nvSpPr>
          <p:cNvPr id="5" name="Text 3"/>
          <p:cNvSpPr/>
          <p:nvPr/>
        </p:nvSpPr>
        <p:spPr>
          <a:xfrm>
            <a:off x="1066800" y="2616138"/>
            <a:ext cx="298246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Old seismic standard. Designed to survive moderate shaking without damage, with no explicit requirement to stay standing in a severe quake.</a:t>
            </a:r>
            <a:endParaRPr lang="en-US" sz="1300" dirty="0"/>
          </a:p>
        </p:txBody>
      </p:sp>
      <p:sp>
        <p:nvSpPr>
          <p:cNvPr id="6" name="Text 4"/>
          <p:cNvSpPr/>
          <p:nvPr/>
        </p:nvSpPr>
        <p:spPr>
          <a:xfrm>
            <a:off x="1066800" y="3695644"/>
            <a:ext cx="298246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Expect: no mortgage, higher insurance, exclusion from most buyer tax reliefs, and a reinforcement bill if you want to sleep well.</a:t>
            </a:r>
            <a:endParaRPr lang="en-US" sz="1300" dirty="0"/>
          </a:p>
        </p:txBody>
      </p:sp>
      <p:sp>
        <p:nvSpPr>
          <p:cNvPr id="7" name="Shape 5"/>
          <p:cNvSpPr/>
          <p:nvPr/>
        </p:nvSpPr>
        <p:spPr>
          <a:xfrm>
            <a:off x="4394200" y="2014172"/>
            <a:ext cx="3403600" cy="2926068"/>
          </a:xfrm>
          <a:prstGeom prst="roundRect">
            <a:avLst>
              <a:gd name="adj" fmla="val 2604"/>
            </a:avLst>
          </a:prstGeom>
          <a:solidFill>
            <a:srgbClr val="1D3040"/>
          </a:solidFill>
          <a:ln/>
        </p:spPr>
      </p:sp>
      <p:sp>
        <p:nvSpPr>
          <p:cNvPr id="8" name="Text 6"/>
          <p:cNvSpPr/>
          <p:nvPr/>
        </p:nvSpPr>
        <p:spPr>
          <a:xfrm>
            <a:off x="4648200" y="2268172"/>
            <a:ext cx="2982468" cy="284468"/>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2906B"/>
                </a:solidFill>
                <a:latin typeface="Inter" pitchFamily="34" charset="0"/>
                <a:ea typeface="Inter" pitchFamily="34" charset="-122"/>
                <a:cs typeface="Inter" pitchFamily="34" charset="-120"/>
              </a:rPr>
              <a:t>June 1981 onward</a:t>
            </a:r>
            <a:endParaRPr lang="en-US" sz="1700" dirty="0"/>
          </a:p>
        </p:txBody>
      </p:sp>
      <p:sp>
        <p:nvSpPr>
          <p:cNvPr id="9" name="Text 7"/>
          <p:cNvSpPr/>
          <p:nvPr/>
        </p:nvSpPr>
        <p:spPr>
          <a:xfrm>
            <a:off x="4648200" y="2616138"/>
            <a:ext cx="298246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New seismic standard. Required to avoid collapse in a severe earthquake. This is the line lenders, insurers and tax reliefs draw.</a:t>
            </a:r>
            <a:endParaRPr lang="en-US" sz="1300" dirty="0"/>
          </a:p>
        </p:txBody>
      </p:sp>
      <p:sp>
        <p:nvSpPr>
          <p:cNvPr id="10" name="Text 8"/>
          <p:cNvSpPr/>
          <p:nvPr/>
        </p:nvSpPr>
        <p:spPr>
          <a:xfrm>
            <a:off x="4648200" y="3695644"/>
            <a:ext cx="298246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Confirm by the building permit date, not the completion date — a house finished in late 1981 may have been permitted under the old code.</a:t>
            </a:r>
            <a:endParaRPr lang="en-US" sz="1300" dirty="0"/>
          </a:p>
        </p:txBody>
      </p:sp>
      <p:sp>
        <p:nvSpPr>
          <p:cNvPr id="11" name="Shape 9"/>
          <p:cNvSpPr/>
          <p:nvPr/>
        </p:nvSpPr>
        <p:spPr>
          <a:xfrm>
            <a:off x="7975600" y="2014172"/>
            <a:ext cx="3403600" cy="2926068"/>
          </a:xfrm>
          <a:prstGeom prst="roundRect">
            <a:avLst>
              <a:gd name="adj" fmla="val 2604"/>
            </a:avLst>
          </a:prstGeom>
          <a:solidFill>
            <a:srgbClr val="1D3040"/>
          </a:solidFill>
          <a:ln/>
        </p:spPr>
      </p:sp>
      <p:sp>
        <p:nvSpPr>
          <p:cNvPr id="12" name="Text 10"/>
          <p:cNvSpPr/>
          <p:nvPr/>
        </p:nvSpPr>
        <p:spPr>
          <a:xfrm>
            <a:off x="8229600" y="2268172"/>
            <a:ext cx="2982468" cy="284468"/>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2906B"/>
                </a:solidFill>
                <a:latin typeface="Inter" pitchFamily="34" charset="0"/>
                <a:ea typeface="Inter" pitchFamily="34" charset="-122"/>
                <a:cs typeface="Inter" pitchFamily="34" charset="-120"/>
              </a:rPr>
              <a:t>2000 onward</a:t>
            </a:r>
            <a:endParaRPr lang="en-US" sz="1700" dirty="0"/>
          </a:p>
        </p:txBody>
      </p:sp>
      <p:sp>
        <p:nvSpPr>
          <p:cNvPr id="13" name="Text 11"/>
          <p:cNvSpPr/>
          <p:nvPr/>
        </p:nvSpPr>
        <p:spPr>
          <a:xfrm>
            <a:off x="8229600" y="2616138"/>
            <a:ext cx="2982468"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A further revision specific to timber houses: ground survey, defined foundation design, hardware connections at joints and balanced placement of bracing walls.</a:t>
            </a:r>
            <a:endParaRPr lang="en-US" sz="1300" dirty="0"/>
          </a:p>
        </p:txBody>
      </p:sp>
      <p:sp>
        <p:nvSpPr>
          <p:cNvPr id="14" name="Text 12"/>
          <p:cNvSpPr/>
          <p:nvPr/>
        </p:nvSpPr>
        <p:spPr>
          <a:xfrm>
            <a:off x="8229600" y="3943294"/>
            <a:ext cx="2982468"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In practice this is the level at which a wooden house performs as a modern buyer expects.</a:t>
            </a:r>
            <a:endParaRPr lang="en-US" sz="1300" dirty="0"/>
          </a:p>
        </p:txBody>
      </p:sp>
      <p:sp>
        <p:nvSpPr>
          <p:cNvPr id="15" name="Text 13"/>
          <p:cNvSpPr/>
          <p:nvPr/>
        </p:nvSpPr>
        <p:spPr>
          <a:xfrm>
            <a:off x="812800" y="5219644"/>
            <a:ext cx="10137775" cy="50415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9B7C0"/>
                </a:solidFill>
                <a:latin typeface="Inter" pitchFamily="34" charset="0"/>
                <a:ea typeface="Inter" pitchFamily="34" charset="-122"/>
                <a:cs typeface="Inter" pitchFamily="34" charset="-120"/>
              </a:rPr>
              <a:t>Many municipalities subsidise a seismic assessment and part of the reinforcement cost for pre-1981 houses. Ask the city office before you commit to a budget.</a:t>
            </a:r>
            <a:endParaRPr lang="en-US" sz="1300" dirty="0"/>
          </a:p>
        </p:txBody>
      </p:sp>
      <p:sp>
        <p:nvSpPr>
          <p:cNvPr id="16" name="Text 14"/>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7A3"/>
                </a:solidFill>
                <a:latin typeface="Inter" pitchFamily="34" charset="0"/>
                <a:ea typeface="Inter" pitchFamily="34" charset="-122"/>
                <a:cs typeface="Inter" pitchFamily="34" charset="-120"/>
              </a:rPr>
              <a:t>YAMA-VISTA  ·  japancheaphouses.com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859509"/>
          </a:xfrm>
          <a:prstGeom prst="rect">
            <a:avLst/>
          </a:prstGeom>
          <a:noFill/>
          <a:ln/>
        </p:spPr>
        <p:txBody>
          <a:bodyPr wrap="square" lIns="0" tIns="0" rIns="0" bIns="0" rtlCol="0" anchor="t">
            <a:normAutofit/>
          </a:bodyPr>
          <a:lstStyle/>
          <a:p>
            <a:pPr algn="l" indent="0" marL="0">
              <a:lnSpc>
                <a:spcPts val="3278"/>
              </a:lnSpc>
              <a:buNone/>
            </a:pPr>
            <a:r>
              <a:rPr lang="en-US" sz="2980" dirty="0">
                <a:solidFill>
                  <a:srgbClr val="14232E"/>
                </a:solidFill>
                <a:latin typeface="Source Serif 4" pitchFamily="34" charset="0"/>
                <a:ea typeface="Source Serif 4" pitchFamily="34" charset="-122"/>
                <a:cs typeface="Source Serif 4" pitchFamily="34" charset="-120"/>
              </a:rPr>
              <a:t>Why so many houses are empty — and what that means for you</a:t>
            </a:r>
            <a:endParaRPr lang="en-US" sz="2980" dirty="0"/>
          </a:p>
        </p:txBody>
      </p:sp>
      <p:sp>
        <p:nvSpPr>
          <p:cNvPr id="3" name="Shape 1"/>
          <p:cNvSpPr/>
          <p:nvPr/>
        </p:nvSpPr>
        <p:spPr>
          <a:xfrm>
            <a:off x="812800" y="1926313"/>
            <a:ext cx="3556000" cy="3915691"/>
          </a:xfrm>
          <a:prstGeom prst="roundRect">
            <a:avLst>
              <a:gd name="adj" fmla="val 2143"/>
            </a:avLst>
          </a:prstGeom>
          <a:solidFill>
            <a:srgbClr val="14232E"/>
          </a:solidFill>
          <a:ln/>
        </p:spPr>
      </p:sp>
      <p:sp>
        <p:nvSpPr>
          <p:cNvPr id="4" name="Text 2"/>
          <p:cNvSpPr/>
          <p:nvPr/>
        </p:nvSpPr>
        <p:spPr>
          <a:xfrm>
            <a:off x="1092200" y="2205713"/>
            <a:ext cx="3087116"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E2906B"/>
                </a:solidFill>
                <a:latin typeface="Source Serif 4" pitchFamily="34" charset="0"/>
                <a:ea typeface="Source Serif 4" pitchFamily="34" charset="-122"/>
                <a:cs typeface="Source Serif 4" pitchFamily="34" charset="-120"/>
              </a:rPr>
              <a:t>9m+</a:t>
            </a:r>
            <a:endParaRPr lang="en-US" sz="6000" dirty="0"/>
          </a:p>
        </p:txBody>
      </p:sp>
      <p:sp>
        <p:nvSpPr>
          <p:cNvPr id="5" name="Text 3"/>
          <p:cNvSpPr/>
          <p:nvPr/>
        </p:nvSpPr>
        <p:spPr>
          <a:xfrm>
            <a:off x="1092200" y="3094713"/>
            <a:ext cx="308711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2E9"/>
                </a:solidFill>
                <a:latin typeface="Inter" pitchFamily="34" charset="0"/>
                <a:ea typeface="Inter" pitchFamily="34" charset="-122"/>
                <a:cs typeface="Inter" pitchFamily="34" charset="-120"/>
              </a:rPr>
              <a:t>vacant homes nationwide, around one in seven of all dwellings, and still rising</a:t>
            </a:r>
            <a:endParaRPr lang="en-US" sz="1500" dirty="0"/>
          </a:p>
        </p:txBody>
      </p:sp>
      <p:sp>
        <p:nvSpPr>
          <p:cNvPr id="6" name="Text 4"/>
          <p:cNvSpPr/>
          <p:nvPr/>
        </p:nvSpPr>
        <p:spPr>
          <a:xfrm>
            <a:off x="1092200" y="3993238"/>
            <a:ext cx="3087116" cy="688303"/>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8497A3"/>
                </a:solidFill>
                <a:latin typeface="Inter" pitchFamily="34" charset="0"/>
                <a:ea typeface="Inter" pitchFamily="34" charset="-122"/>
                <a:cs typeface="Inter" pitchFamily="34" charset="-120"/>
              </a:rPr>
              <a:t>Driven by a shrinking and ageing population, inheritance that nobody wants, and a market that prices old buildings at zero.</a:t>
            </a:r>
            <a:endParaRPr lang="en-US" sz="1200" dirty="0"/>
          </a:p>
        </p:txBody>
      </p:sp>
      <p:sp>
        <p:nvSpPr>
          <p:cNvPr id="7" name="Shape 5"/>
          <p:cNvSpPr/>
          <p:nvPr/>
        </p:nvSpPr>
        <p:spPr>
          <a:xfrm>
            <a:off x="4575175" y="1929488"/>
            <a:ext cx="6800850" cy="1205767"/>
          </a:xfrm>
          <a:prstGeom prst="roundRect">
            <a:avLst>
              <a:gd name="adj" fmla="val 6056"/>
            </a:avLst>
          </a:prstGeom>
          <a:solidFill>
            <a:srgbClr val="FFFFFF"/>
          </a:solidFill>
          <a:ln w="6350">
            <a:solidFill>
              <a:srgbClr val="DDD6C6"/>
            </a:solidFill>
            <a:prstDash val="solid"/>
          </a:ln>
        </p:spPr>
      </p:sp>
      <p:sp>
        <p:nvSpPr>
          <p:cNvPr id="8" name="Text 6"/>
          <p:cNvSpPr/>
          <p:nvPr/>
        </p:nvSpPr>
        <p:spPr>
          <a:xfrm>
            <a:off x="4781062" y="2135374"/>
            <a:ext cx="6580749" cy="207260"/>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4232E"/>
                </a:solidFill>
                <a:latin typeface="Inter" pitchFamily="34" charset="0"/>
                <a:ea typeface="Inter" pitchFamily="34" charset="-122"/>
                <a:cs typeface="Inter" pitchFamily="34" charset="-120"/>
              </a:rPr>
              <a:t>Municipal vacant-house banks</a:t>
            </a:r>
            <a:endParaRPr lang="en-US" sz="1225" dirty="0"/>
          </a:p>
        </p:txBody>
      </p:sp>
      <p:sp>
        <p:nvSpPr>
          <p:cNvPr id="9" name="Text 7"/>
          <p:cNvSpPr/>
          <p:nvPr/>
        </p:nvSpPr>
        <p:spPr>
          <a:xfrm>
            <a:off x="4781062" y="2317235"/>
            <a:ext cx="6580749" cy="637534"/>
          </a:xfrm>
          <a:prstGeom prst="rect">
            <a:avLst/>
          </a:prstGeom>
          <a:noFill/>
          <a:ln/>
        </p:spPr>
        <p:txBody>
          <a:bodyPr wrap="square" lIns="0" tIns="0" rIns="0" bIns="0" rtlCol="0" anchor="t">
            <a:normAutofit/>
          </a:bodyPr>
          <a:lstStyle/>
          <a:p>
            <a:pPr algn="l" indent="0" marL="0">
              <a:lnSpc>
                <a:spcPts val="1608"/>
              </a:lnSpc>
              <a:buNone/>
            </a:pPr>
            <a:r>
              <a:rPr lang="en-US" sz="1109" dirty="0">
                <a:solidFill>
                  <a:srgbClr val="5A6470"/>
                </a:solidFill>
                <a:latin typeface="Inter" pitchFamily="34" charset="0"/>
                <a:ea typeface="Inter" pitchFamily="34" charset="-122"/>
                <a:cs typeface="Inter" pitchFamily="34" charset="-120"/>
              </a:rPr>
              <a:t>Most rural municipalities run a register of empty homes for sale or rent, often with registration requirements and sometimes with renovation or relocation grants attached. Terms differ by town — read that town's rules, not a generic article.</a:t>
            </a:r>
            <a:endParaRPr lang="en-US" sz="1109" dirty="0"/>
          </a:p>
        </p:txBody>
      </p:sp>
      <p:sp>
        <p:nvSpPr>
          <p:cNvPr id="10" name="Shape 8"/>
          <p:cNvSpPr/>
          <p:nvPr/>
        </p:nvSpPr>
        <p:spPr>
          <a:xfrm>
            <a:off x="4575175" y="3281307"/>
            <a:ext cx="6800850" cy="1205737"/>
          </a:xfrm>
          <a:prstGeom prst="roundRect">
            <a:avLst>
              <a:gd name="adj" fmla="val 6056"/>
            </a:avLst>
          </a:prstGeom>
          <a:solidFill>
            <a:srgbClr val="FFFFFF"/>
          </a:solidFill>
          <a:ln w="6350">
            <a:solidFill>
              <a:srgbClr val="DDD6C6"/>
            </a:solidFill>
            <a:prstDash val="solid"/>
          </a:ln>
        </p:spPr>
      </p:sp>
      <p:sp>
        <p:nvSpPr>
          <p:cNvPr id="11" name="Text 9"/>
          <p:cNvSpPr/>
          <p:nvPr/>
        </p:nvSpPr>
        <p:spPr>
          <a:xfrm>
            <a:off x="4781062" y="3487192"/>
            <a:ext cx="6580749" cy="207260"/>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4232E"/>
                </a:solidFill>
                <a:latin typeface="Inter" pitchFamily="34" charset="0"/>
                <a:ea typeface="Inter" pitchFamily="34" charset="-122"/>
                <a:cs typeface="Inter" pitchFamily="34" charset="-120"/>
              </a:rPr>
              <a:t>Cheap has a reason</a:t>
            </a:r>
            <a:endParaRPr lang="en-US" sz="1225" dirty="0"/>
          </a:p>
        </p:txBody>
      </p:sp>
      <p:sp>
        <p:nvSpPr>
          <p:cNvPr id="12" name="Text 10"/>
          <p:cNvSpPr/>
          <p:nvPr/>
        </p:nvSpPr>
        <p:spPr>
          <a:xfrm>
            <a:off x="4781062" y="3669054"/>
            <a:ext cx="6580749" cy="637503"/>
          </a:xfrm>
          <a:prstGeom prst="rect">
            <a:avLst/>
          </a:prstGeom>
          <a:noFill/>
          <a:ln/>
        </p:spPr>
        <p:txBody>
          <a:bodyPr wrap="square" lIns="0" tIns="0" rIns="0" bIns="0" rtlCol="0" anchor="t">
            <a:normAutofit/>
          </a:bodyPr>
          <a:lstStyle/>
          <a:p>
            <a:pPr algn="l" indent="0" marL="0">
              <a:lnSpc>
                <a:spcPts val="1608"/>
              </a:lnSpc>
              <a:buNone/>
            </a:pPr>
            <a:r>
              <a:rPr lang="en-US" sz="1109" dirty="0">
                <a:solidFill>
                  <a:srgbClr val="5A6470"/>
                </a:solidFill>
                <a:latin typeface="Inter" pitchFamily="34" charset="0"/>
                <a:ea typeface="Inter" pitchFamily="34" charset="-122"/>
                <a:cs typeface="Inter" pitchFamily="34" charset="-120"/>
              </a:rPr>
              <a:t>Listings under a million yen are usually carrying one of the defects in section three. That does not make them unbuyable — it makes them unfinanceable and unsellable, which is a very different proposition.</a:t>
            </a:r>
            <a:endParaRPr lang="en-US" sz="1109" dirty="0"/>
          </a:p>
        </p:txBody>
      </p:sp>
      <p:sp>
        <p:nvSpPr>
          <p:cNvPr id="13" name="Shape 11"/>
          <p:cNvSpPr/>
          <p:nvPr/>
        </p:nvSpPr>
        <p:spPr>
          <a:xfrm>
            <a:off x="4575175" y="4633088"/>
            <a:ext cx="6800850" cy="1205737"/>
          </a:xfrm>
          <a:prstGeom prst="roundRect">
            <a:avLst>
              <a:gd name="adj" fmla="val 6056"/>
            </a:avLst>
          </a:prstGeom>
          <a:solidFill>
            <a:srgbClr val="FFFFFF"/>
          </a:solidFill>
          <a:ln w="6350">
            <a:solidFill>
              <a:srgbClr val="DDD6C6"/>
            </a:solidFill>
            <a:prstDash val="solid"/>
          </a:ln>
        </p:spPr>
      </p:sp>
      <p:sp>
        <p:nvSpPr>
          <p:cNvPr id="14" name="Text 12"/>
          <p:cNvSpPr/>
          <p:nvPr/>
        </p:nvSpPr>
        <p:spPr>
          <a:xfrm>
            <a:off x="4781062" y="4838979"/>
            <a:ext cx="6580749" cy="207260"/>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4232E"/>
                </a:solidFill>
                <a:latin typeface="Inter" pitchFamily="34" charset="0"/>
                <a:ea typeface="Inter" pitchFamily="34" charset="-122"/>
                <a:cs typeface="Inter" pitchFamily="34" charset="-120"/>
              </a:rPr>
              <a:t>Neglect is now taxed</a:t>
            </a:r>
            <a:endParaRPr lang="en-US" sz="1225" dirty="0"/>
          </a:p>
        </p:txBody>
      </p:sp>
      <p:sp>
        <p:nvSpPr>
          <p:cNvPr id="15" name="Text 13"/>
          <p:cNvSpPr/>
          <p:nvPr/>
        </p:nvSpPr>
        <p:spPr>
          <a:xfrm>
            <a:off x="4781062" y="5020835"/>
            <a:ext cx="6580749" cy="637503"/>
          </a:xfrm>
          <a:prstGeom prst="rect">
            <a:avLst/>
          </a:prstGeom>
          <a:noFill/>
          <a:ln/>
        </p:spPr>
        <p:txBody>
          <a:bodyPr wrap="square" lIns="0" tIns="0" rIns="0" bIns="0" rtlCol="0" anchor="t">
            <a:normAutofit/>
          </a:bodyPr>
          <a:lstStyle/>
          <a:p>
            <a:pPr algn="l" indent="0" marL="0">
              <a:lnSpc>
                <a:spcPts val="1608"/>
              </a:lnSpc>
              <a:buNone/>
            </a:pPr>
            <a:r>
              <a:rPr lang="en-US" sz="1109" dirty="0">
                <a:solidFill>
                  <a:srgbClr val="5A6470"/>
                </a:solidFill>
                <a:latin typeface="Inter" pitchFamily="34" charset="0"/>
                <a:ea typeface="Inter" pitchFamily="34" charset="-122"/>
                <a:cs typeface="Inter" pitchFamily="34" charset="-120"/>
              </a:rPr>
              <a:t>A municipality can designate a poorly managed vacant house and strip its residential land tax discount, multiplying the annual property tax bill. An empty house you leave to rot becomes an escalating cost.</a:t>
            </a:r>
            <a:endParaRPr lang="en-US" sz="1109" dirty="0"/>
          </a:p>
        </p:txBody>
      </p:sp>
      <p:sp>
        <p:nvSpPr>
          <p:cNvPr id="16" name="Text 14"/>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947371"/>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The single most important question: can it be rebuilt?</a:t>
            </a:r>
            <a:endParaRPr lang="en-US" sz="3300" dirty="0"/>
          </a:p>
        </p:txBody>
      </p:sp>
      <p:sp>
        <p:nvSpPr>
          <p:cNvPr id="3" name="Text 1"/>
          <p:cNvSpPr/>
          <p:nvPr/>
        </p:nvSpPr>
        <p:spPr>
          <a:xfrm>
            <a:off x="812800" y="1937972"/>
            <a:ext cx="10137775" cy="54097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6470"/>
                </a:solidFill>
                <a:latin typeface="Inter" pitchFamily="34" charset="0"/>
                <a:ea typeface="Inter" pitchFamily="34" charset="-122"/>
                <a:cs typeface="Inter" pitchFamily="34" charset="-120"/>
              </a:rPr>
              <a:t>A plot must touch a legally recognised road, at least 4 metres wide, along at least 2 metres of its boundary. Fail that and the site is </a:t>
            </a:r>
            <a:r>
              <a:rPr lang="en-US" sz="1400" b="1" dirty="0">
                <a:solidFill>
                  <a:srgbClr val="5A6470"/>
                </a:solidFill>
                <a:latin typeface="Inter" pitchFamily="34" charset="0"/>
                <a:ea typeface="Inter" pitchFamily="34" charset="-122"/>
                <a:cs typeface="Inter" pitchFamily="34" charset="-120"/>
              </a:rPr>
              <a:t>non-rebuildable</a:t>
            </a:r>
            <a:r>
              <a:rPr lang="en-US" sz="1400" dirty="0">
                <a:solidFill>
                  <a:srgbClr val="5A6470"/>
                </a:solidFill>
                <a:latin typeface="Inter" pitchFamily="34" charset="0"/>
                <a:ea typeface="Inter" pitchFamily="34" charset="-122"/>
                <a:cs typeface="Inter" pitchFamily="34" charset="-120"/>
              </a:rPr>
              <a:t> — the existing house may stand and may be repaired, but no replacement can be built.</a:t>
            </a:r>
            <a:endParaRPr lang="en-US" sz="1400" dirty="0"/>
          </a:p>
        </p:txBody>
      </p:sp>
      <p:pic>
        <p:nvPicPr>
          <p:cNvPr id="4" name="Image 0" descr="Two plots compared. The left plot touches a four metre public road along two metres of boundary and may be rebuilt. The right plot connects only by a one point two metre path and may not be rebuilt.">    </p:cNvPr>
          <p:cNvPicPr>
            <a:picLocks noChangeAspect="1"/>
          </p:cNvPicPr>
          <p:nvPr/>
        </p:nvPicPr>
        <p:blipFill>
          <a:blip r:embed="rId1"/>
          <a:srcRect l="0" r="0" t="-9" b="-9"/>
          <a:stretch/>
        </p:blipFill>
        <p:spPr>
          <a:xfrm>
            <a:off x="812800" y="2656743"/>
            <a:ext cx="10566401" cy="2286000"/>
          </a:xfrm>
          <a:prstGeom prst="rect">
            <a:avLst/>
          </a:prstGeom>
        </p:spPr>
      </p:pic>
      <p:sp>
        <p:nvSpPr>
          <p:cNvPr id="5" name="Text 2"/>
          <p:cNvSpPr/>
          <p:nvPr/>
        </p:nvSpPr>
        <p:spPr>
          <a:xfrm>
            <a:off x="812800" y="5145943"/>
            <a:ext cx="10595610" cy="50415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Related traps: a road under 4m wide obliges you to set your building line back, permanently shrinking your buildable area; a private road means you need the co-owners' written consent to dig for utilities.</a:t>
            </a:r>
            <a:endParaRPr lang="en-US" sz="1300" dirty="0"/>
          </a:p>
        </p:txBody>
      </p:sp>
      <p:sp>
        <p:nvSpPr>
          <p:cNvPr id="6" name="Text 3"/>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4187"/>
          </a:xfrm>
          <a:prstGeom prst="rect">
            <a:avLst/>
          </a:prstGeom>
          <a:noFill/>
          <a:ln/>
        </p:spPr>
        <p:txBody>
          <a:bodyPr wrap="square" lIns="0" tIns="0" rIns="0" bIns="0" rtlCol="0" anchor="t">
            <a:normAutofit/>
          </a:bodyPr>
          <a:lstStyle/>
          <a:p>
            <a:pPr algn="l" indent="0" marL="0">
              <a:lnSpc>
                <a:spcPts val="3619"/>
              </a:lnSpc>
              <a:buNone/>
            </a:pPr>
            <a:r>
              <a:rPr lang="en-US" sz="3290" dirty="0">
                <a:solidFill>
                  <a:srgbClr val="14232E"/>
                </a:solidFill>
                <a:latin typeface="Source Serif 4" pitchFamily="34" charset="0"/>
                <a:ea typeface="Source Serif 4" pitchFamily="34" charset="-122"/>
                <a:cs typeface="Source Serif 4" pitchFamily="34" charset="-120"/>
              </a:rPr>
              <a:t>What the zoning lets you build, and lets you do</a:t>
            </a:r>
            <a:endParaRPr lang="en-US" sz="3290" dirty="0"/>
          </a:p>
        </p:txBody>
      </p:sp>
      <p:sp>
        <p:nvSpPr>
          <p:cNvPr id="3" name="Shape 1"/>
          <p:cNvSpPr/>
          <p:nvPr/>
        </p:nvSpPr>
        <p:spPr>
          <a:xfrm>
            <a:off x="815975" y="1554163"/>
            <a:ext cx="5181600" cy="1462759"/>
          </a:xfrm>
          <a:prstGeom prst="roundRect">
            <a:avLst>
              <a:gd name="adj" fmla="val 4992"/>
            </a:avLst>
          </a:prstGeom>
          <a:solidFill>
            <a:srgbClr val="FFFFFF"/>
          </a:solidFill>
          <a:ln w="6350">
            <a:solidFill>
              <a:srgbClr val="DDD6C6"/>
            </a:solidFill>
            <a:prstDash val="solid"/>
          </a:ln>
        </p:spPr>
      </p:sp>
      <p:sp>
        <p:nvSpPr>
          <p:cNvPr id="4" name="Text 2"/>
          <p:cNvSpPr/>
          <p:nvPr/>
        </p:nvSpPr>
        <p:spPr>
          <a:xfrm>
            <a:off x="1047262" y="1785454"/>
            <a:ext cx="4860598" cy="237026"/>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B4462C"/>
                </a:solidFill>
                <a:latin typeface="Inter" pitchFamily="34" charset="0"/>
                <a:ea typeface="Inter" pitchFamily="34" charset="-122"/>
                <a:cs typeface="Inter" pitchFamily="34" charset="-120"/>
              </a:rPr>
              <a:t>Use zone</a:t>
            </a:r>
            <a:endParaRPr lang="en-US" sz="1396" dirty="0"/>
          </a:p>
        </p:txBody>
      </p:sp>
      <p:sp>
        <p:nvSpPr>
          <p:cNvPr id="5" name="Text 3"/>
          <p:cNvSpPr/>
          <p:nvPr/>
        </p:nvSpPr>
        <p:spPr>
          <a:xfrm>
            <a:off x="1047262" y="2073275"/>
            <a:ext cx="4860598" cy="737760"/>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5A6470"/>
                </a:solidFill>
                <a:latin typeface="Inter" pitchFamily="34" charset="0"/>
                <a:ea typeface="Inter" pitchFamily="34" charset="-122"/>
                <a:cs typeface="Inter" pitchFamily="34" charset="-120"/>
              </a:rPr>
              <a:t>Thirteen categories set what may operate on the plot. A quiet low-rise residential zone protects your outlook but may block running a guesthouse, café or office from the building.</a:t>
            </a:r>
            <a:endParaRPr lang="en-US" sz="1292" dirty="0"/>
          </a:p>
        </p:txBody>
      </p:sp>
      <p:sp>
        <p:nvSpPr>
          <p:cNvPr id="6" name="Shape 4"/>
          <p:cNvSpPr/>
          <p:nvPr/>
        </p:nvSpPr>
        <p:spPr>
          <a:xfrm>
            <a:off x="6194425" y="1554163"/>
            <a:ext cx="5181600" cy="1462759"/>
          </a:xfrm>
          <a:prstGeom prst="roundRect">
            <a:avLst>
              <a:gd name="adj" fmla="val 4992"/>
            </a:avLst>
          </a:prstGeom>
          <a:solidFill>
            <a:srgbClr val="FFFFFF"/>
          </a:solidFill>
          <a:ln w="6350">
            <a:solidFill>
              <a:srgbClr val="DDD6C6"/>
            </a:solidFill>
            <a:prstDash val="solid"/>
          </a:ln>
        </p:spPr>
      </p:sp>
      <p:sp>
        <p:nvSpPr>
          <p:cNvPr id="7" name="Text 5"/>
          <p:cNvSpPr/>
          <p:nvPr/>
        </p:nvSpPr>
        <p:spPr>
          <a:xfrm>
            <a:off x="6425712" y="1785454"/>
            <a:ext cx="4860598" cy="237026"/>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B4462C"/>
                </a:solidFill>
                <a:latin typeface="Inter" pitchFamily="34" charset="0"/>
                <a:ea typeface="Inter" pitchFamily="34" charset="-122"/>
                <a:cs typeface="Inter" pitchFamily="34" charset="-120"/>
              </a:rPr>
              <a:t>Coverage and floor-area ratios</a:t>
            </a:r>
            <a:endParaRPr lang="en-US" sz="1396" dirty="0"/>
          </a:p>
        </p:txBody>
      </p:sp>
      <p:sp>
        <p:nvSpPr>
          <p:cNvPr id="8" name="Text 6"/>
          <p:cNvSpPr/>
          <p:nvPr/>
        </p:nvSpPr>
        <p:spPr>
          <a:xfrm>
            <a:off x="6425712" y="2073275"/>
            <a:ext cx="4860598" cy="737760"/>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5A6470"/>
                </a:solidFill>
                <a:latin typeface="Inter" pitchFamily="34" charset="0"/>
                <a:ea typeface="Inter" pitchFamily="34" charset="-122"/>
                <a:cs typeface="Inter" pitchFamily="34" charset="-120"/>
              </a:rPr>
              <a:t>Two percentages cap the footprint and the total floor area you may build on the plot. They decide whether a replacement house can be as large as the one standing there now.</a:t>
            </a:r>
            <a:endParaRPr lang="en-US" sz="1292" dirty="0"/>
          </a:p>
        </p:txBody>
      </p:sp>
      <p:sp>
        <p:nvSpPr>
          <p:cNvPr id="9" name="Shape 7"/>
          <p:cNvSpPr/>
          <p:nvPr/>
        </p:nvSpPr>
        <p:spPr>
          <a:xfrm>
            <a:off x="815975" y="3213776"/>
            <a:ext cx="5181600" cy="1462759"/>
          </a:xfrm>
          <a:prstGeom prst="roundRect">
            <a:avLst>
              <a:gd name="adj" fmla="val 4992"/>
            </a:avLst>
          </a:prstGeom>
          <a:solidFill>
            <a:srgbClr val="FFFFFF"/>
          </a:solidFill>
          <a:ln w="6350">
            <a:solidFill>
              <a:srgbClr val="DDD6C6"/>
            </a:solidFill>
            <a:prstDash val="solid"/>
          </a:ln>
        </p:spPr>
      </p:sp>
      <p:sp>
        <p:nvSpPr>
          <p:cNvPr id="10" name="Text 8"/>
          <p:cNvSpPr/>
          <p:nvPr/>
        </p:nvSpPr>
        <p:spPr>
          <a:xfrm>
            <a:off x="1047262" y="3445061"/>
            <a:ext cx="4860598" cy="237026"/>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B4462C"/>
                </a:solidFill>
                <a:latin typeface="Inter" pitchFamily="34" charset="0"/>
                <a:ea typeface="Inter" pitchFamily="34" charset="-122"/>
                <a:cs typeface="Inter" pitchFamily="34" charset="-120"/>
              </a:rPr>
              <a:t>Urbanisation control area</a:t>
            </a:r>
            <a:endParaRPr lang="en-US" sz="1396" dirty="0"/>
          </a:p>
        </p:txBody>
      </p:sp>
      <p:sp>
        <p:nvSpPr>
          <p:cNvPr id="11" name="Text 9"/>
          <p:cNvSpPr/>
          <p:nvPr/>
        </p:nvSpPr>
        <p:spPr>
          <a:xfrm>
            <a:off x="1047262" y="3732888"/>
            <a:ext cx="4860598" cy="737760"/>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5A6470"/>
                </a:solidFill>
                <a:latin typeface="Inter" pitchFamily="34" charset="0"/>
                <a:ea typeface="Inter" pitchFamily="34" charset="-122"/>
                <a:cs typeface="Inter" pitchFamily="34" charset="-120"/>
              </a:rPr>
              <a:t>Land designated to stay undeveloped. New building is restricted and permission is discretionary. Rural bargains frequently sit here — verify before you plan anything.</a:t>
            </a:r>
            <a:endParaRPr lang="en-US" sz="1292" dirty="0"/>
          </a:p>
        </p:txBody>
      </p:sp>
      <p:sp>
        <p:nvSpPr>
          <p:cNvPr id="12" name="Shape 10"/>
          <p:cNvSpPr/>
          <p:nvPr/>
        </p:nvSpPr>
        <p:spPr>
          <a:xfrm>
            <a:off x="6194425" y="3213776"/>
            <a:ext cx="5181600" cy="1462759"/>
          </a:xfrm>
          <a:prstGeom prst="roundRect">
            <a:avLst>
              <a:gd name="adj" fmla="val 4992"/>
            </a:avLst>
          </a:prstGeom>
          <a:solidFill>
            <a:srgbClr val="FFFFFF"/>
          </a:solidFill>
          <a:ln w="6350">
            <a:solidFill>
              <a:srgbClr val="DDD6C6"/>
            </a:solidFill>
            <a:prstDash val="solid"/>
          </a:ln>
        </p:spPr>
      </p:sp>
      <p:sp>
        <p:nvSpPr>
          <p:cNvPr id="13" name="Text 11"/>
          <p:cNvSpPr/>
          <p:nvPr/>
        </p:nvSpPr>
        <p:spPr>
          <a:xfrm>
            <a:off x="6425712" y="3445061"/>
            <a:ext cx="4860598" cy="237026"/>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B4462C"/>
                </a:solidFill>
                <a:latin typeface="Inter" pitchFamily="34" charset="0"/>
                <a:ea typeface="Inter" pitchFamily="34" charset="-122"/>
                <a:cs typeface="Inter" pitchFamily="34" charset="-120"/>
              </a:rPr>
              <a:t>Legally non-conforming</a:t>
            </a:r>
            <a:endParaRPr lang="en-US" sz="1396" dirty="0"/>
          </a:p>
        </p:txBody>
      </p:sp>
      <p:sp>
        <p:nvSpPr>
          <p:cNvPr id="14" name="Text 12"/>
          <p:cNvSpPr/>
          <p:nvPr/>
        </p:nvSpPr>
        <p:spPr>
          <a:xfrm>
            <a:off x="6425712" y="3732888"/>
            <a:ext cx="4860598" cy="737760"/>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5A6470"/>
                </a:solidFill>
                <a:latin typeface="Inter" pitchFamily="34" charset="0"/>
                <a:ea typeface="Inter" pitchFamily="34" charset="-122"/>
                <a:cs typeface="Inter" pitchFamily="34" charset="-120"/>
              </a:rPr>
              <a:t>A house that was lawful when built but exceeds today's limits. It may stand, but a rebuild must shrink to current rules — sometimes dramatically.</a:t>
            </a:r>
            <a:endParaRPr lang="en-US" sz="1292" dirty="0"/>
          </a:p>
        </p:txBody>
      </p:sp>
      <p:sp>
        <p:nvSpPr>
          <p:cNvPr id="15" name="Shape 13"/>
          <p:cNvSpPr/>
          <p:nvPr/>
        </p:nvSpPr>
        <p:spPr>
          <a:xfrm>
            <a:off x="812800" y="4959108"/>
            <a:ext cx="10566401" cy="882894"/>
          </a:xfrm>
          <a:prstGeom prst="roundRect">
            <a:avLst>
              <a:gd name="adj" fmla="val 8631"/>
            </a:avLst>
          </a:prstGeom>
          <a:solidFill>
            <a:srgbClr val="14232E"/>
          </a:solidFill>
          <a:ln/>
        </p:spPr>
      </p:sp>
      <p:sp>
        <p:nvSpPr>
          <p:cNvPr id="16" name="Text 14"/>
          <p:cNvSpPr/>
          <p:nvPr/>
        </p:nvSpPr>
        <p:spPr>
          <a:xfrm>
            <a:off x="1066800" y="5162308"/>
            <a:ext cx="10360152" cy="50189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Also check: agricultural land, which needs committee permission to convert and cannot simply be built on, and forest land, which carries its own notification duties.</a:t>
            </a:r>
            <a:endParaRPr lang="en-US" sz="1300" dirty="0"/>
          </a:p>
        </p:txBody>
      </p:sp>
      <p:sp>
        <p:nvSpPr>
          <p:cNvPr id="17" name="Text 15"/>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452865"/>
          </a:xfrm>
          <a:prstGeom prst="rect">
            <a:avLst/>
          </a:prstGeom>
          <a:noFill/>
          <a:ln/>
        </p:spPr>
        <p:txBody>
          <a:bodyPr wrap="square" lIns="0" tIns="0" rIns="0" bIns="0" rtlCol="0" anchor="t">
            <a:normAutofit/>
          </a:bodyPr>
          <a:lstStyle/>
          <a:p>
            <a:pPr algn="l" indent="0" marL="0">
              <a:lnSpc>
                <a:spcPts val="3369"/>
              </a:lnSpc>
              <a:buNone/>
            </a:pPr>
            <a:r>
              <a:rPr lang="en-US" sz="3063" dirty="0">
                <a:solidFill>
                  <a:srgbClr val="F6F2E9"/>
                </a:solidFill>
                <a:latin typeface="Source Serif 4" pitchFamily="34" charset="0"/>
                <a:ea typeface="Source Serif 4" pitchFamily="34" charset="-122"/>
                <a:cs typeface="Source Serif 4" pitchFamily="34" charset="-120"/>
              </a:rPr>
              <a:t>Read the hazard map before you read the floor plan</a:t>
            </a:r>
            <a:endParaRPr lang="en-US" sz="3063" dirty="0"/>
          </a:p>
        </p:txBody>
      </p:sp>
      <p:sp>
        <p:nvSpPr>
          <p:cNvPr id="3" name="Text 1"/>
          <p:cNvSpPr/>
          <p:nvPr/>
        </p:nvSpPr>
        <p:spPr>
          <a:xfrm>
            <a:off x="812800" y="1494265"/>
            <a:ext cx="10137775" cy="503451"/>
          </a:xfrm>
          <a:prstGeom prst="rect">
            <a:avLst/>
          </a:prstGeom>
          <a:noFill/>
          <a:ln/>
        </p:spPr>
        <p:txBody>
          <a:bodyPr wrap="square" lIns="0" tIns="0" rIns="0" bIns="0" rtlCol="0" anchor="t">
            <a:normAutofit/>
          </a:bodyPr>
          <a:lstStyle/>
          <a:p>
            <a:pPr algn="l" indent="0" marL="0">
              <a:lnSpc>
                <a:spcPts val="1884"/>
              </a:lnSpc>
              <a:buNone/>
            </a:pPr>
            <a:r>
              <a:rPr lang="en-US" sz="1299" dirty="0">
                <a:solidFill>
                  <a:srgbClr val="A9B7C0"/>
                </a:solidFill>
                <a:latin typeface="Inter" pitchFamily="34" charset="0"/>
                <a:ea typeface="Inter" pitchFamily="34" charset="-122"/>
                <a:cs typeface="Inter" pitchFamily="34" charset="-120"/>
              </a:rPr>
              <a:t>Every municipality publishes flood, landslide, storm-surge and tsunami maps, and agents are required to explain flood risk as part of formal disclosure. Do not wait for that meeting — look the address up yourself on day one.</a:t>
            </a:r>
            <a:endParaRPr lang="en-US" sz="1299"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226320"/>
          <a:ext cx="10566401" cy="3603961"/>
        </p:xfrm>
        <a:graphic>
          <a:graphicData uri="http://schemas.openxmlformats.org/drawingml/2006/table">
            <a:tbl>
              <a:tblPr/>
              <a:tblGrid>
                <a:gridCol w="3522134"/>
                <a:gridCol w="3522134"/>
                <a:gridCol w="3522134"/>
              </a:tblGrid>
              <a:tr h="460802">
                <a:tc>
                  <a:txBody>
                    <a:bodyPr/>
                    <a:lstStyle/>
                    <a:p>
                      <a:pPr indent="0" marL="0">
                        <a:lnSpc>
                          <a:spcPts val="1652"/>
                        </a:lnSpc>
                        <a:buNone/>
                      </a:pPr>
                      <a:r>
                        <a:rPr lang="en-US" sz="1180" b="1" dirty="0">
                          <a:solidFill>
                            <a:srgbClr val="14232E"/>
                          </a:solidFill>
                          <a:latin typeface="Inter" pitchFamily="34" charset="0"/>
                          <a:ea typeface="Inter" pitchFamily="34" charset="-122"/>
                          <a:cs typeface="Inter" pitchFamily="34" charset="-120"/>
                        </a:rPr>
                        <a:t>Designation</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solidFill>
                      <a:srgbClr val="26343D"/>
                    </a:solidFill>
                  </a:tcPr>
                </a:tc>
                <a:tc>
                  <a:txBody>
                    <a:bodyPr/>
                    <a:lstStyle/>
                    <a:p>
                      <a:pPr indent="0" marL="0">
                        <a:lnSpc>
                          <a:spcPts val="1652"/>
                        </a:lnSpc>
                        <a:buNone/>
                      </a:pPr>
                      <a:r>
                        <a:rPr lang="en-US" sz="1180" b="1" dirty="0">
                          <a:solidFill>
                            <a:srgbClr val="14232E"/>
                          </a:solidFill>
                          <a:latin typeface="Inter" pitchFamily="34" charset="0"/>
                          <a:ea typeface="Inter" pitchFamily="34" charset="-122"/>
                          <a:cs typeface="Inter" pitchFamily="34" charset="-120"/>
                        </a:rPr>
                        <a:t>What it means on the ground</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solidFill>
                      <a:srgbClr val="26343D"/>
                    </a:solidFill>
                  </a:tcPr>
                </a:tc>
                <a:tc>
                  <a:txBody>
                    <a:bodyPr/>
                    <a:lstStyle/>
                    <a:p>
                      <a:pPr indent="0" marL="0">
                        <a:lnSpc>
                          <a:spcPts val="1652"/>
                        </a:lnSpc>
                        <a:buNone/>
                      </a:pPr>
                      <a:r>
                        <a:rPr lang="en-US" sz="1180" b="1" dirty="0">
                          <a:solidFill>
                            <a:srgbClr val="14232E"/>
                          </a:solidFill>
                          <a:latin typeface="Inter" pitchFamily="34" charset="0"/>
                          <a:ea typeface="Inter" pitchFamily="34" charset="-122"/>
                          <a:cs typeface="Inter" pitchFamily="34" charset="-120"/>
                        </a:rPr>
                        <a:t>Effect on the deal</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solidFill>
                      <a:srgbClr val="26343D"/>
                    </a:solidFill>
                  </a:tcPr>
                </a:tc>
              </a:tr>
              <a:tr h="670566">
                <a:tc>
                  <a:txBody>
                    <a:bodyPr/>
                    <a:lstStyle/>
                    <a:p>
                      <a:pPr indent="0" marL="0">
                        <a:lnSpc>
                          <a:spcPts val="1652"/>
                        </a:lnSpc>
                        <a:buNone/>
                      </a:pPr>
                      <a:r>
                        <a:rPr lang="en-US" sz="1180" dirty="0">
                          <a:solidFill>
                            <a:srgbClr val="F6F2E9"/>
                          </a:solidFill>
                          <a:latin typeface="Inter" pitchFamily="34" charset="0"/>
                          <a:ea typeface="Inter" pitchFamily="34" charset="-122"/>
                          <a:cs typeface="Inter" pitchFamily="34" charset="-120"/>
                        </a:rPr>
                        <a:t>Landslide caution zone</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Slope failure is possible; evacuation planning applies</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Insurance cost, resale drag</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70566">
                <a:tc>
                  <a:txBody>
                    <a:bodyPr/>
                    <a:lstStyle/>
                    <a:p>
                      <a:pPr indent="0" marL="0">
                        <a:lnSpc>
                          <a:spcPts val="1652"/>
                        </a:lnSpc>
                        <a:buNone/>
                      </a:pPr>
                      <a:r>
                        <a:rPr lang="en-US" sz="1180" dirty="0">
                          <a:solidFill>
                            <a:srgbClr val="F6F2E9"/>
                          </a:solidFill>
                          <a:latin typeface="Inter" pitchFamily="34" charset="0"/>
                          <a:ea typeface="Inter" pitchFamily="34" charset="-122"/>
                          <a:cs typeface="Inter" pitchFamily="34" charset="-120"/>
                        </a:rPr>
                        <a:t>Landslide special zone</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Buildings must be structurally reinforced; development is restricted</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Treat as a deal breaker</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460833">
                <a:tc>
                  <a:txBody>
                    <a:bodyPr/>
                    <a:lstStyle/>
                    <a:p>
                      <a:pPr indent="0" marL="0">
                        <a:lnSpc>
                          <a:spcPts val="1652"/>
                        </a:lnSpc>
                        <a:buNone/>
                      </a:pPr>
                      <a:r>
                        <a:rPr lang="en-US" sz="1180" dirty="0">
                          <a:solidFill>
                            <a:srgbClr val="F6F2E9"/>
                          </a:solidFill>
                          <a:latin typeface="Inter" pitchFamily="34" charset="0"/>
                          <a:ea typeface="Inter" pitchFamily="34" charset="-122"/>
                          <a:cs typeface="Inter" pitchFamily="34" charset="-120"/>
                        </a:rPr>
                        <a:t>Flood depth zone</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Expected inundation depth in a design-level flood</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Premiums rise sharply above 1m</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70597">
                <a:tc>
                  <a:txBody>
                    <a:bodyPr/>
                    <a:lstStyle/>
                    <a:p>
                      <a:pPr indent="0" marL="0">
                        <a:lnSpc>
                          <a:spcPts val="1652"/>
                        </a:lnSpc>
                        <a:buNone/>
                      </a:pPr>
                      <a:r>
                        <a:rPr lang="en-US" sz="1180" dirty="0">
                          <a:solidFill>
                            <a:srgbClr val="F6F2E9"/>
                          </a:solidFill>
                          <a:latin typeface="Inter" pitchFamily="34" charset="0"/>
                          <a:ea typeface="Inter" pitchFamily="34" charset="-122"/>
                          <a:cs typeface="Inter" pitchFamily="34" charset="-120"/>
                        </a:rPr>
                        <a:t>Liquefaction risk</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Reclaimed or alluvial ground may lose bearing capacity in a quake</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Ground survey before offer</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70597">
                <a:tc>
                  <a:txBody>
                    <a:bodyPr/>
                    <a:lstStyle/>
                    <a:p>
                      <a:pPr indent="0" marL="0">
                        <a:lnSpc>
                          <a:spcPts val="1652"/>
                        </a:lnSpc>
                        <a:buNone/>
                      </a:pPr>
                      <a:r>
                        <a:rPr lang="en-US" sz="1180" dirty="0">
                          <a:solidFill>
                            <a:srgbClr val="F6F2E9"/>
                          </a:solidFill>
                          <a:latin typeface="Inter" pitchFamily="34" charset="0"/>
                          <a:ea typeface="Inter" pitchFamily="34" charset="-122"/>
                          <a:cs typeface="Inter" pitchFamily="34" charset="-120"/>
                        </a:rPr>
                        <a:t>Tsunami inundation</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Coastal area modelled for wave reach and evacuation routes</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652"/>
                        </a:lnSpc>
                        <a:buNone/>
                      </a:pPr>
                      <a:r>
                        <a:rPr lang="en-US" sz="1180" dirty="0">
                          <a:solidFill>
                            <a:srgbClr val="A9B7C0"/>
                          </a:solidFill>
                          <a:latin typeface="Inter" pitchFamily="34" charset="0"/>
                          <a:ea typeface="Inter" pitchFamily="34" charset="-122"/>
                          <a:cs typeface="Inter" pitchFamily="34" charset="-120"/>
                        </a:rPr>
                        <a:t>Check elevation and route on foot</a:t>
                      </a:r>
                      <a:endParaRPr lang="en-US" sz="1180"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bl>
          </a:graphicData>
        </a:graphic>
      </p:graphicFrame>
      <p:sp>
        <p:nvSpPr>
          <p:cNvPr id="5" name="Text 2"/>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7A3"/>
                </a:solidFill>
                <a:latin typeface="Inter" pitchFamily="34" charset="0"/>
                <a:ea typeface="Inter" pitchFamily="34" charset="-122"/>
                <a:cs typeface="Inter" pitchFamily="34" charset="-120"/>
              </a:rPr>
              <a:t>YAMA-VISTA  ·  japancheaphouses.com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Title, boundaries and the paperwork behind the plot</a:t>
            </a:r>
            <a:endParaRPr lang="en-US" sz="3300" dirty="0"/>
          </a:p>
        </p:txBody>
      </p:sp>
      <p:sp>
        <p:nvSpPr>
          <p:cNvPr id="3" name="Shape 1"/>
          <p:cNvSpPr/>
          <p:nvPr/>
        </p:nvSpPr>
        <p:spPr>
          <a:xfrm>
            <a:off x="815975" y="1530958"/>
            <a:ext cx="3397250" cy="1923592"/>
          </a:xfrm>
          <a:prstGeom prst="roundRect">
            <a:avLst>
              <a:gd name="adj" fmla="val 3796"/>
            </a:avLst>
          </a:prstGeom>
          <a:solidFill>
            <a:srgbClr val="FFFFFF"/>
          </a:solidFill>
          <a:ln w="6350">
            <a:solidFill>
              <a:srgbClr val="DDD6C6"/>
            </a:solidFill>
            <a:prstDash val="solid"/>
          </a:ln>
        </p:spPr>
      </p:sp>
      <p:sp>
        <p:nvSpPr>
          <p:cNvPr id="4" name="Text 2"/>
          <p:cNvSpPr/>
          <p:nvPr/>
        </p:nvSpPr>
        <p:spPr>
          <a:xfrm>
            <a:off x="1034562" y="1749543"/>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Unregistered buildings</a:t>
            </a:r>
            <a:endParaRPr lang="en-US" sz="1400" dirty="0"/>
          </a:p>
        </p:txBody>
      </p:sp>
      <p:sp>
        <p:nvSpPr>
          <p:cNvPr id="5" name="Text 3"/>
          <p:cNvSpPr/>
          <p:nvPr/>
        </p:nvSpPr>
        <p:spPr>
          <a:xfrm>
            <a:off x="1034562" y="2039082"/>
            <a:ext cx="3048879"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Extensions and outbuildings are often missing from the register. They cannot be mortgaged, may be unlawful, and become your problem the day you sign.</a:t>
            </a:r>
            <a:endParaRPr lang="en-US" sz="1300" dirty="0"/>
          </a:p>
        </p:txBody>
      </p:sp>
      <p:sp>
        <p:nvSpPr>
          <p:cNvPr id="6" name="Shape 4"/>
          <p:cNvSpPr/>
          <p:nvPr/>
        </p:nvSpPr>
        <p:spPr>
          <a:xfrm>
            <a:off x="4397375" y="1530958"/>
            <a:ext cx="3397250" cy="1923592"/>
          </a:xfrm>
          <a:prstGeom prst="roundRect">
            <a:avLst>
              <a:gd name="adj" fmla="val 3796"/>
            </a:avLst>
          </a:prstGeom>
          <a:solidFill>
            <a:srgbClr val="FFFFFF"/>
          </a:solidFill>
          <a:ln w="6350">
            <a:solidFill>
              <a:srgbClr val="DDD6C6"/>
            </a:solidFill>
            <a:prstDash val="solid"/>
          </a:ln>
        </p:spPr>
      </p:sp>
      <p:sp>
        <p:nvSpPr>
          <p:cNvPr id="7" name="Text 5"/>
          <p:cNvSpPr/>
          <p:nvPr/>
        </p:nvSpPr>
        <p:spPr>
          <a:xfrm>
            <a:off x="4615962" y="1749543"/>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Undivided inheritance</a:t>
            </a:r>
            <a:endParaRPr lang="en-US" sz="1400" dirty="0"/>
          </a:p>
        </p:txBody>
      </p:sp>
      <p:sp>
        <p:nvSpPr>
          <p:cNvPr id="8" name="Text 6"/>
          <p:cNvSpPr/>
          <p:nvPr/>
        </p:nvSpPr>
        <p:spPr>
          <a:xfrm>
            <a:off x="4615962" y="2039082"/>
            <a:ext cx="3048879"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Rural plots are often still registered to a grandparent with several heirs. Registration of inherited property is now compulsory, but backlogs remain — every heir must sign.</a:t>
            </a:r>
            <a:endParaRPr lang="en-US" sz="1300" dirty="0"/>
          </a:p>
        </p:txBody>
      </p:sp>
      <p:sp>
        <p:nvSpPr>
          <p:cNvPr id="9" name="Shape 7"/>
          <p:cNvSpPr/>
          <p:nvPr/>
        </p:nvSpPr>
        <p:spPr>
          <a:xfrm>
            <a:off x="7978775" y="1530958"/>
            <a:ext cx="3397250" cy="1923592"/>
          </a:xfrm>
          <a:prstGeom prst="roundRect">
            <a:avLst>
              <a:gd name="adj" fmla="val 3796"/>
            </a:avLst>
          </a:prstGeom>
          <a:solidFill>
            <a:srgbClr val="FFFFFF"/>
          </a:solidFill>
          <a:ln w="6350">
            <a:solidFill>
              <a:srgbClr val="DDD6C6"/>
            </a:solidFill>
            <a:prstDash val="solid"/>
          </a:ln>
        </p:spPr>
      </p:sp>
      <p:sp>
        <p:nvSpPr>
          <p:cNvPr id="10" name="Text 8"/>
          <p:cNvSpPr/>
          <p:nvPr/>
        </p:nvSpPr>
        <p:spPr>
          <a:xfrm>
            <a:off x="8197362" y="1749543"/>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Unconfirmed boundaries</a:t>
            </a:r>
            <a:endParaRPr lang="en-US" sz="1400" dirty="0"/>
          </a:p>
        </p:txBody>
      </p:sp>
      <p:sp>
        <p:nvSpPr>
          <p:cNvPr id="11" name="Text 9"/>
          <p:cNvSpPr/>
          <p:nvPr/>
        </p:nvSpPr>
        <p:spPr>
          <a:xfrm>
            <a:off x="8197362" y="2039082"/>
            <a:ext cx="3048879"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Without a signed boundary agreement and a surveyed plan, the stated area is an estimate. Insist on a confirmed survey at the seller's cost, or price the risk.</a:t>
            </a:r>
            <a:endParaRPr lang="en-US" sz="1300" dirty="0"/>
          </a:p>
        </p:txBody>
      </p:sp>
      <p:sp>
        <p:nvSpPr>
          <p:cNvPr id="12" name="Shape 10"/>
          <p:cNvSpPr/>
          <p:nvPr/>
        </p:nvSpPr>
        <p:spPr>
          <a:xfrm>
            <a:off x="815975" y="3638699"/>
            <a:ext cx="3397250" cy="2162969"/>
          </a:xfrm>
          <a:prstGeom prst="roundRect">
            <a:avLst>
              <a:gd name="adj" fmla="val 3376"/>
            </a:avLst>
          </a:prstGeom>
          <a:solidFill>
            <a:srgbClr val="FFFFFF"/>
          </a:solidFill>
          <a:ln w="6350">
            <a:solidFill>
              <a:srgbClr val="DDD6C6"/>
            </a:solidFill>
            <a:prstDash val="solid"/>
          </a:ln>
        </p:spPr>
      </p:sp>
      <p:sp>
        <p:nvSpPr>
          <p:cNvPr id="13" name="Text 11"/>
          <p:cNvSpPr/>
          <p:nvPr/>
        </p:nvSpPr>
        <p:spPr>
          <a:xfrm>
            <a:off x="1034562" y="3857284"/>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Encroachments</a:t>
            </a:r>
            <a:endParaRPr lang="en-US" sz="1400" dirty="0"/>
          </a:p>
        </p:txBody>
      </p:sp>
      <p:sp>
        <p:nvSpPr>
          <p:cNvPr id="14" name="Text 12"/>
          <p:cNvSpPr/>
          <p:nvPr/>
        </p:nvSpPr>
        <p:spPr>
          <a:xfrm>
            <a:off x="1034562" y="4146823"/>
            <a:ext cx="3048879"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Eaves, walls, pipes and trees that cross the line. Get a written acknowledgement from the neighbour before completion, not a verbal one.</a:t>
            </a:r>
            <a:endParaRPr lang="en-US" sz="1300" dirty="0"/>
          </a:p>
        </p:txBody>
      </p:sp>
      <p:sp>
        <p:nvSpPr>
          <p:cNvPr id="15" name="Shape 13"/>
          <p:cNvSpPr/>
          <p:nvPr/>
        </p:nvSpPr>
        <p:spPr>
          <a:xfrm>
            <a:off x="4397375" y="3638699"/>
            <a:ext cx="3397250" cy="2162969"/>
          </a:xfrm>
          <a:prstGeom prst="roundRect">
            <a:avLst>
              <a:gd name="adj" fmla="val 3376"/>
            </a:avLst>
          </a:prstGeom>
          <a:solidFill>
            <a:srgbClr val="FFFFFF"/>
          </a:solidFill>
          <a:ln w="6350">
            <a:solidFill>
              <a:srgbClr val="DDD6C6"/>
            </a:solidFill>
            <a:prstDash val="solid"/>
          </a:ln>
        </p:spPr>
      </p:sp>
      <p:sp>
        <p:nvSpPr>
          <p:cNvPr id="16" name="Text 14"/>
          <p:cNvSpPr/>
          <p:nvPr/>
        </p:nvSpPr>
        <p:spPr>
          <a:xfrm>
            <a:off x="4615962" y="3857284"/>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Private roads and utilities</a:t>
            </a:r>
            <a:endParaRPr lang="en-US" sz="1400" dirty="0"/>
          </a:p>
        </p:txBody>
      </p:sp>
      <p:sp>
        <p:nvSpPr>
          <p:cNvPr id="17" name="Text 15"/>
          <p:cNvSpPr/>
          <p:nvPr/>
        </p:nvSpPr>
        <p:spPr>
          <a:xfrm>
            <a:off x="4615962" y="4146823"/>
            <a:ext cx="3048879" cy="146166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If access or the water and sewer lines cross someone else's land, you need recorded rights of passage and excavation consent — the cheapest thing to fix before contract, the hardest after.</a:t>
            </a:r>
            <a:endParaRPr lang="en-US" sz="1300" dirty="0"/>
          </a:p>
        </p:txBody>
      </p:sp>
      <p:sp>
        <p:nvSpPr>
          <p:cNvPr id="18" name="Shape 16"/>
          <p:cNvSpPr/>
          <p:nvPr/>
        </p:nvSpPr>
        <p:spPr>
          <a:xfrm>
            <a:off x="7978775" y="3638699"/>
            <a:ext cx="3397250" cy="2162969"/>
          </a:xfrm>
          <a:prstGeom prst="roundRect">
            <a:avLst>
              <a:gd name="adj" fmla="val 3376"/>
            </a:avLst>
          </a:prstGeom>
          <a:solidFill>
            <a:srgbClr val="FFFFFF"/>
          </a:solidFill>
          <a:ln w="6350">
            <a:solidFill>
              <a:srgbClr val="DDD6C6"/>
            </a:solidFill>
            <a:prstDash val="solid"/>
          </a:ln>
        </p:spPr>
      </p:sp>
      <p:sp>
        <p:nvSpPr>
          <p:cNvPr id="19" name="Text 17"/>
          <p:cNvSpPr/>
          <p:nvPr/>
        </p:nvSpPr>
        <p:spPr>
          <a:xfrm>
            <a:off x="8197362" y="3857284"/>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Registered burdens</a:t>
            </a:r>
            <a:endParaRPr lang="en-US" sz="1400" dirty="0"/>
          </a:p>
        </p:txBody>
      </p:sp>
      <p:sp>
        <p:nvSpPr>
          <p:cNvPr id="20" name="Text 18"/>
          <p:cNvSpPr/>
          <p:nvPr/>
        </p:nvSpPr>
        <p:spPr>
          <a:xfrm>
            <a:off x="8197362" y="4146823"/>
            <a:ext cx="3048879"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Mortgages, liens and provisional registrations all appear on the title extract. They must be discharged at settlement — confirm in writing who pays and when.</a:t>
            </a:r>
            <a:endParaRPr lang="en-US" sz="1300" dirty="0"/>
          </a:p>
        </p:txBody>
      </p:sp>
      <p:sp>
        <p:nvSpPr>
          <p:cNvPr id="21" name="Text 19"/>
          <p:cNvSpPr/>
          <p:nvPr/>
        </p:nvSpPr>
        <p:spPr>
          <a:xfrm>
            <a:off x="812800" y="6238261"/>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BE5D8"/>
        </a:solidFill>
      </p:bgPr>
    </p:bg>
    <p:spTree>
      <p:nvGrpSpPr>
        <p:cNvPr id="1" name=""/>
        <p:cNvGrpSpPr/>
        <p:nvPr/>
      </p:nvGrpSpPr>
      <p:grpSpPr>
        <a:xfrm>
          <a:off x="0" y="0"/>
          <a:ext cx="0" cy="0"/>
          <a:chOff x="0" y="0"/>
          <a:chExt cx="0" cy="0"/>
        </a:xfrm>
      </p:grpSpPr>
      <p:sp>
        <p:nvSpPr>
          <p:cNvPr id="2" name="Text 0"/>
          <p:cNvSpPr/>
          <p:nvPr/>
        </p:nvSpPr>
        <p:spPr>
          <a:xfrm>
            <a:off x="812800" y="812800"/>
            <a:ext cx="4578350" cy="133985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14232E"/>
                </a:solidFill>
                <a:latin typeface="Source Serif 4" pitchFamily="34" charset="0"/>
                <a:ea typeface="Source Serif 4" pitchFamily="34" charset="-122"/>
                <a:cs typeface="Source Serif 4" pitchFamily="34" charset="-120"/>
              </a:rPr>
              <a:t>The disclosure meeting is where the truth is legally required</a:t>
            </a:r>
            <a:endParaRPr lang="en-US" sz="3000" dirty="0"/>
          </a:p>
        </p:txBody>
      </p:sp>
      <p:sp>
        <p:nvSpPr>
          <p:cNvPr id="3" name="Text 1"/>
          <p:cNvSpPr/>
          <p:nvPr/>
        </p:nvSpPr>
        <p:spPr>
          <a:xfrm>
            <a:off x="812800" y="2305050"/>
            <a:ext cx="4578350"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Before you sign, a licensed transaction specialist must hand you a written Important Matters Explanation and talk you through it in person or by video. This document is the one place where defects, restrictions and burdens have to be stated.</a:t>
            </a:r>
            <a:endParaRPr lang="en-US" sz="1300" dirty="0"/>
          </a:p>
        </p:txBody>
      </p:sp>
      <p:sp>
        <p:nvSpPr>
          <p:cNvPr id="4" name="Text 2"/>
          <p:cNvSpPr/>
          <p:nvPr/>
        </p:nvSpPr>
        <p:spPr>
          <a:xfrm>
            <a:off x="812800" y="3721100"/>
            <a:ext cx="457835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It is dense, it is in Japanese, and it is normally delivered on the same day as signature. Ask for it </a:t>
            </a:r>
            <a:r>
              <a:rPr lang="en-US" sz="1300" b="1" dirty="0">
                <a:solidFill>
                  <a:srgbClr val="5A6470"/>
                </a:solidFill>
                <a:latin typeface="Inter" pitchFamily="34" charset="0"/>
                <a:ea typeface="Inter" pitchFamily="34" charset="-122"/>
                <a:cs typeface="Inter" pitchFamily="34" charset="-120"/>
              </a:rPr>
              <a:t>at least three days in advance</a:t>
            </a:r>
            <a:r>
              <a:rPr lang="en-US" sz="1300" dirty="0">
                <a:solidFill>
                  <a:srgbClr val="5A6470"/>
                </a:solidFill>
                <a:latin typeface="Inter" pitchFamily="34" charset="0"/>
                <a:ea typeface="Inter" pitchFamily="34" charset="-122"/>
                <a:cs typeface="Inter" pitchFamily="34" charset="-120"/>
              </a:rPr>
              <a:t> and have it translated. A seller's agent who refuses is telling you something.</a:t>
            </a:r>
            <a:endParaRPr lang="en-US" sz="1300" dirty="0"/>
          </a:p>
        </p:txBody>
      </p:sp>
      <p:sp>
        <p:nvSpPr>
          <p:cNvPr id="5" name="Shape 3"/>
          <p:cNvSpPr/>
          <p:nvPr/>
        </p:nvSpPr>
        <p:spPr>
          <a:xfrm>
            <a:off x="5715000" y="812800"/>
            <a:ext cx="5664200" cy="5029200"/>
          </a:xfrm>
          <a:prstGeom prst="roundRect">
            <a:avLst>
              <a:gd name="adj" fmla="val 1515"/>
            </a:avLst>
          </a:prstGeom>
          <a:solidFill>
            <a:srgbClr val="FFFFFF"/>
          </a:solidFill>
          <a:ln/>
        </p:spPr>
      </p:sp>
      <p:sp>
        <p:nvSpPr>
          <p:cNvPr id="6" name="Text 4"/>
          <p:cNvSpPr/>
          <p:nvPr/>
        </p:nvSpPr>
        <p:spPr>
          <a:xfrm>
            <a:off x="5994400" y="1092200"/>
            <a:ext cx="52585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32E"/>
                </a:solidFill>
                <a:latin typeface="Inter" pitchFamily="34" charset="0"/>
                <a:ea typeface="Inter" pitchFamily="34" charset="-122"/>
                <a:cs typeface="Inter" pitchFamily="34" charset="-120"/>
              </a:rPr>
              <a:t>Read these lines first</a:t>
            </a:r>
            <a:endParaRPr lang="en-US" sz="1500" dirty="0"/>
          </a:p>
        </p:txBody>
      </p:sp>
      <p:sp>
        <p:nvSpPr>
          <p:cNvPr id="7" name="Text 5"/>
          <p:cNvSpPr/>
          <p:nvPr/>
        </p:nvSpPr>
        <p:spPr>
          <a:xfrm>
            <a:off x="5994400" y="1422400"/>
            <a:ext cx="5258562" cy="2551265"/>
          </a:xfrm>
          <a:prstGeom prst="rect">
            <a:avLst/>
          </a:prstGeom>
          <a:noFill/>
          <a:ln/>
        </p:spPr>
        <p:txBody>
          <a:bodyPr wrap="square" lIns="0" tIns="0" rIns="0" bIns="0" rtlCol="0" anchor="t">
            <a:normAutofit/>
          </a:bodyPr>
          <a:lstStyle/>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Road type, width and the frontage measurement</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Zoning, coverage and floor-area limits</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Flood, landslide and other hazard designations</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Water supply, drainage and gas — public or private</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Whether a building condition survey was carried out</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Known defects, past deaths on the property, disputes</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For condominiums: repair reserve balance and arrears</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Deposit handling, cancellation terms and penalty clauses</a:t>
            </a:r>
            <a:endParaRPr lang="en-US" sz="1300" dirty="0"/>
          </a:p>
          <a:p>
            <a:pPr algn="l" marL="342900" indent="-342900">
              <a:lnSpc>
                <a:spcPts val="2210"/>
              </a:lnSpc>
              <a:buSzPct val="100000"/>
              <a:buChar char="•"/>
            </a:pPr>
            <a:r>
              <a:rPr lang="en-US" sz="1300" dirty="0">
                <a:solidFill>
                  <a:srgbClr val="5A6470"/>
                </a:solidFill>
                <a:latin typeface="Inter" pitchFamily="34" charset="0"/>
                <a:ea typeface="Inter" pitchFamily="34" charset="-122"/>
                <a:cs typeface="Inter" pitchFamily="34" charset="-120"/>
              </a:rPr>
              <a:t>Who bears the seller's liability for non-conformity, and for how long</a:t>
            </a:r>
            <a:endParaRPr lang="en-US" sz="1300" dirty="0"/>
          </a:p>
        </p:txBody>
      </p:sp>
      <p:sp>
        <p:nvSpPr>
          <p:cNvPr id="8" name="Text 6"/>
          <p:cNvSpPr/>
          <p:nvPr/>
        </p:nvSpPr>
        <p:spPr>
          <a:xfrm>
            <a:off x="812800" y="6238261"/>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78570"/>
          </a:xfrm>
          <a:prstGeom prst="rect">
            <a:avLst/>
          </a:prstGeom>
          <a:noFill/>
          <a:ln/>
        </p:spPr>
        <p:txBody>
          <a:bodyPr wrap="square" lIns="0" tIns="0" rIns="0" bIns="0" rtlCol="0" anchor="t">
            <a:normAutofit/>
          </a:bodyPr>
          <a:lstStyle/>
          <a:p>
            <a:pPr algn="l" indent="0" marL="0">
              <a:lnSpc>
                <a:spcPts val="3573"/>
              </a:lnSpc>
              <a:buNone/>
            </a:pPr>
            <a:r>
              <a:rPr lang="en-US" sz="3248" dirty="0">
                <a:solidFill>
                  <a:srgbClr val="14232E"/>
                </a:solidFill>
                <a:latin typeface="Source Serif 4" pitchFamily="34" charset="0"/>
                <a:ea typeface="Source Serif 4" pitchFamily="34" charset="-122"/>
                <a:cs typeface="Source Serif 4" pitchFamily="34" charset="-120"/>
              </a:rPr>
              <a:t>What is changing for foreign buyers right now</a:t>
            </a:r>
            <a:endParaRPr lang="en-US" sz="3248" dirty="0"/>
          </a:p>
        </p:txBody>
      </p:sp>
      <p:sp>
        <p:nvSpPr>
          <p:cNvPr id="3" name="Text 1"/>
          <p:cNvSpPr/>
          <p:nvPr/>
        </p:nvSpPr>
        <p:spPr>
          <a:xfrm>
            <a:off x="812800" y="1519963"/>
            <a:ext cx="10203180" cy="532179"/>
          </a:xfrm>
          <a:prstGeom prst="rect">
            <a:avLst/>
          </a:prstGeom>
          <a:noFill/>
          <a:ln/>
        </p:spPr>
        <p:txBody>
          <a:bodyPr wrap="square" lIns="0" tIns="0" rIns="0" bIns="0" rtlCol="0" anchor="t">
            <a:normAutofit/>
          </a:bodyPr>
          <a:lstStyle/>
          <a:p>
            <a:pPr algn="l" indent="0" marL="0">
              <a:lnSpc>
                <a:spcPts val="2011"/>
              </a:lnSpc>
              <a:buNone/>
            </a:pPr>
            <a:r>
              <a:rPr lang="en-US" sz="1387" dirty="0">
                <a:solidFill>
                  <a:srgbClr val="5A6470"/>
                </a:solidFill>
                <a:latin typeface="Inter" pitchFamily="34" charset="0"/>
                <a:ea typeface="Inter" pitchFamily="34" charset="-122"/>
                <a:cs typeface="Inter" pitchFamily="34" charset="-120"/>
              </a:rPr>
              <a:t>Nothing currently stops a foreign national from buying. What is arriving is transparency: the government is building a clearer picture of who owns what, and is weighing whether security-related rules are needed.</a:t>
            </a:r>
            <a:endParaRPr lang="en-US" sz="1387" dirty="0"/>
          </a:p>
        </p:txBody>
      </p:sp>
      <p:sp>
        <p:nvSpPr>
          <p:cNvPr id="4" name="Shape 2"/>
          <p:cNvSpPr/>
          <p:nvPr/>
        </p:nvSpPr>
        <p:spPr>
          <a:xfrm>
            <a:off x="815975" y="2283923"/>
            <a:ext cx="3397250" cy="2423899"/>
          </a:xfrm>
          <a:prstGeom prst="roundRect">
            <a:avLst>
              <a:gd name="adj" fmla="val 3013"/>
            </a:avLst>
          </a:prstGeom>
          <a:solidFill>
            <a:srgbClr val="FFFFFF"/>
          </a:solidFill>
          <a:ln w="6350">
            <a:solidFill>
              <a:srgbClr val="DDD6C6"/>
            </a:solidFill>
            <a:prstDash val="solid"/>
          </a:ln>
        </p:spPr>
      </p:sp>
      <p:sp>
        <p:nvSpPr>
          <p:cNvPr id="5" name="Text 3"/>
          <p:cNvSpPr/>
          <p:nvPr/>
        </p:nvSpPr>
        <p:spPr>
          <a:xfrm>
            <a:off x="1059962" y="2527914"/>
            <a:ext cx="299655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Nationality on the register</a:t>
            </a:r>
            <a:endParaRPr lang="en-US" sz="1400" dirty="0"/>
          </a:p>
        </p:txBody>
      </p:sp>
      <p:sp>
        <p:nvSpPr>
          <p:cNvPr id="6" name="Text 4"/>
          <p:cNvSpPr/>
          <p:nvPr/>
        </p:nvSpPr>
        <p:spPr>
          <a:xfrm>
            <a:off x="1059962" y="2830147"/>
            <a:ext cx="2996555" cy="146166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From fiscal 2026, nationality must be declared when property is registered after a sale or inheritance — for every individual, Japanese buyers included. Have passport or residence documents ready.</a:t>
            </a:r>
            <a:endParaRPr lang="en-US" sz="1300" dirty="0"/>
          </a:p>
        </p:txBody>
      </p:sp>
      <p:sp>
        <p:nvSpPr>
          <p:cNvPr id="7" name="Shape 5"/>
          <p:cNvSpPr/>
          <p:nvPr/>
        </p:nvSpPr>
        <p:spPr>
          <a:xfrm>
            <a:off x="4397375" y="2283923"/>
            <a:ext cx="3397250" cy="2423899"/>
          </a:xfrm>
          <a:prstGeom prst="roundRect">
            <a:avLst>
              <a:gd name="adj" fmla="val 3013"/>
            </a:avLst>
          </a:prstGeom>
          <a:solidFill>
            <a:srgbClr val="FFFFFF"/>
          </a:solidFill>
          <a:ln w="6350">
            <a:solidFill>
              <a:srgbClr val="DDD6C6"/>
            </a:solidFill>
            <a:prstDash val="solid"/>
          </a:ln>
        </p:spPr>
      </p:sp>
      <p:sp>
        <p:nvSpPr>
          <p:cNvPr id="8" name="Text 6"/>
          <p:cNvSpPr/>
          <p:nvPr/>
        </p:nvSpPr>
        <p:spPr>
          <a:xfrm>
            <a:off x="4641362" y="2527914"/>
            <a:ext cx="299655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Corporate reporting</a:t>
            </a:r>
            <a:endParaRPr lang="en-US" sz="1400" dirty="0"/>
          </a:p>
        </p:txBody>
      </p:sp>
      <p:sp>
        <p:nvSpPr>
          <p:cNvPr id="9" name="Text 7"/>
          <p:cNvSpPr/>
          <p:nvPr/>
        </p:nvSpPr>
        <p:spPr>
          <a:xfrm>
            <a:off x="4641362" y="2830147"/>
            <a:ext cx="2996555" cy="146166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Foreign companies acquiring large plots or land near sensitive sites must now report the nationality of directors and major shareholders. Buying through an offshore entity adds friction, not cover.</a:t>
            </a:r>
            <a:endParaRPr lang="en-US" sz="1300" dirty="0"/>
          </a:p>
        </p:txBody>
      </p:sp>
      <p:sp>
        <p:nvSpPr>
          <p:cNvPr id="10" name="Shape 8"/>
          <p:cNvSpPr/>
          <p:nvPr/>
        </p:nvSpPr>
        <p:spPr>
          <a:xfrm>
            <a:off x="7978775" y="2283923"/>
            <a:ext cx="3397250" cy="2423899"/>
          </a:xfrm>
          <a:prstGeom prst="roundRect">
            <a:avLst>
              <a:gd name="adj" fmla="val 3013"/>
            </a:avLst>
          </a:prstGeom>
          <a:solidFill>
            <a:srgbClr val="FFFFFF"/>
          </a:solidFill>
          <a:ln w="6350">
            <a:solidFill>
              <a:srgbClr val="DDD6C6"/>
            </a:solidFill>
            <a:prstDash val="solid"/>
          </a:ln>
        </p:spPr>
      </p:sp>
      <p:sp>
        <p:nvSpPr>
          <p:cNvPr id="11" name="Text 9"/>
          <p:cNvSpPr/>
          <p:nvPr/>
        </p:nvSpPr>
        <p:spPr>
          <a:xfrm>
            <a:off x="8222762" y="2527914"/>
            <a:ext cx="2996555" cy="234004"/>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B4462C"/>
                </a:solidFill>
                <a:latin typeface="Inter" pitchFamily="34" charset="0"/>
                <a:ea typeface="Inter" pitchFamily="34" charset="-122"/>
                <a:cs typeface="Inter" pitchFamily="34" charset="-120"/>
              </a:rPr>
              <a:t>Rules under review</a:t>
            </a:r>
            <a:endParaRPr lang="en-US" sz="1396" dirty="0"/>
          </a:p>
        </p:txBody>
      </p:sp>
      <p:sp>
        <p:nvSpPr>
          <p:cNvPr id="12" name="Text 10"/>
          <p:cNvSpPr/>
          <p:nvPr/>
        </p:nvSpPr>
        <p:spPr>
          <a:xfrm>
            <a:off x="8222762" y="2825409"/>
            <a:ext cx="2996555" cy="1663822"/>
          </a:xfrm>
          <a:prstGeom prst="rect">
            <a:avLst/>
          </a:prstGeom>
          <a:noFill/>
          <a:ln/>
        </p:spPr>
        <p:txBody>
          <a:bodyPr wrap="square" lIns="0" tIns="0" rIns="0" bIns="0" rtlCol="0" anchor="t">
            <a:normAutofit/>
          </a:bodyPr>
          <a:lstStyle/>
          <a:p>
            <a:pPr algn="l" indent="0" marL="0">
              <a:lnSpc>
                <a:spcPts val="1844"/>
              </a:lnSpc>
              <a:buNone/>
            </a:pPr>
            <a:r>
              <a:rPr lang="en-US" sz="1272" dirty="0">
                <a:solidFill>
                  <a:srgbClr val="5A6470"/>
                </a:solidFill>
                <a:latin typeface="Inter" pitchFamily="34" charset="0"/>
                <a:ea typeface="Inter" pitchFamily="34" charset="-122"/>
                <a:cs typeface="Inter" pitchFamily="34" charset="-120"/>
              </a:rPr>
              <a:t>A government panel has been examining whether to regulate land acquisition and use, with proposals published through 2026 favouring monitoring and oversight. Legislation is expected to be debated rather than settled.</a:t>
            </a:r>
            <a:endParaRPr lang="en-US" sz="1272" dirty="0"/>
          </a:p>
        </p:txBody>
      </p:sp>
      <p:sp>
        <p:nvSpPr>
          <p:cNvPr id="13" name="Shape 11"/>
          <p:cNvSpPr/>
          <p:nvPr/>
        </p:nvSpPr>
        <p:spPr>
          <a:xfrm>
            <a:off x="812800" y="4964999"/>
            <a:ext cx="10566401" cy="877002"/>
          </a:xfrm>
          <a:prstGeom prst="roundRect">
            <a:avLst>
              <a:gd name="adj" fmla="val 8689"/>
            </a:avLst>
          </a:prstGeom>
          <a:solidFill>
            <a:srgbClr val="14232E"/>
          </a:solidFill>
          <a:ln/>
        </p:spPr>
      </p:sp>
      <p:sp>
        <p:nvSpPr>
          <p:cNvPr id="14" name="Text 12"/>
          <p:cNvSpPr/>
          <p:nvPr/>
        </p:nvSpPr>
        <p:spPr>
          <a:xfrm>
            <a:off x="1066800" y="5168199"/>
            <a:ext cx="10360152" cy="496002"/>
          </a:xfrm>
          <a:prstGeom prst="rect">
            <a:avLst/>
          </a:prstGeom>
          <a:noFill/>
          <a:ln/>
        </p:spPr>
        <p:txBody>
          <a:bodyPr wrap="square" lIns="0" tIns="0" rIns="0" bIns="0" rtlCol="0" anchor="t">
            <a:normAutofit/>
          </a:bodyPr>
          <a:lstStyle/>
          <a:p>
            <a:pPr algn="l" indent="0" marL="0">
              <a:lnSpc>
                <a:spcPts val="1861"/>
              </a:lnSpc>
              <a:buNone/>
            </a:pPr>
            <a:r>
              <a:rPr lang="en-US" sz="1284" dirty="0">
                <a:solidFill>
                  <a:srgbClr val="F6F2E9"/>
                </a:solidFill>
                <a:latin typeface="Inter" pitchFamily="34" charset="0"/>
                <a:ea typeface="Inter" pitchFamily="34" charset="-122"/>
                <a:cs typeface="Inter" pitchFamily="34" charset="-120"/>
              </a:rPr>
              <a:t>Practical read: buy in your own name, keep identity documents current, and expect a little more paperwork at registration. If a plot sits near a defence installation, a border island or a water source, take specific advice before committing.</a:t>
            </a:r>
            <a:endParaRPr lang="en-US" sz="1284" dirty="0"/>
          </a:p>
        </p:txBody>
      </p:sp>
      <p:sp>
        <p:nvSpPr>
          <p:cNvPr id="15" name="Text 13"/>
          <p:cNvSpPr/>
          <p:nvPr/>
        </p:nvSpPr>
        <p:spPr>
          <a:xfrm>
            <a:off x="812800" y="6238261"/>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E7161"/>
        </a:solidFill>
      </p:bgPr>
    </p:bg>
    <p:spTree>
      <p:nvGrpSpPr>
        <p:cNvPr id="1" name=""/>
        <p:cNvGrpSpPr/>
        <p:nvPr/>
      </p:nvGrpSpPr>
      <p:grpSpPr>
        <a:xfrm>
          <a:off x="0" y="0"/>
          <a:ext cx="0" cy="0"/>
          <a:chOff x="0" y="0"/>
          <a:chExt cx="0" cy="0"/>
        </a:xfrm>
      </p:grpSpPr>
      <p:sp>
        <p:nvSpPr>
          <p:cNvPr id="2" name="Text 0"/>
          <p:cNvSpPr/>
          <p:nvPr/>
        </p:nvSpPr>
        <p:spPr>
          <a:xfrm>
            <a:off x="812800" y="2064122"/>
            <a:ext cx="9483725" cy="1222986"/>
          </a:xfrm>
          <a:prstGeom prst="rect">
            <a:avLst/>
          </a:prstGeom>
          <a:noFill/>
          <a:ln/>
        </p:spPr>
        <p:txBody>
          <a:bodyPr wrap="square" lIns="0" tIns="0" rIns="0" bIns="0" rtlCol="0" anchor="t">
            <a:normAutofit/>
          </a:bodyPr>
          <a:lstStyle/>
          <a:p>
            <a:pPr algn="l" indent="0" marL="0">
              <a:lnSpc>
                <a:spcPts val="4715"/>
              </a:lnSpc>
              <a:buNone/>
            </a:pPr>
            <a:r>
              <a:rPr lang="en-US" sz="4100" dirty="0">
                <a:solidFill>
                  <a:srgbClr val="F6F2E9"/>
                </a:solidFill>
                <a:latin typeface="Source Serif 4" pitchFamily="34" charset="0"/>
                <a:ea typeface="Source Serif 4" pitchFamily="34" charset="-122"/>
                <a:cs typeface="Source Serif 4" pitchFamily="34" charset="-120"/>
              </a:rPr>
              <a:t>The price on the listing is about 90% of what leaves your account.</a:t>
            </a:r>
            <a:endParaRPr lang="en-US" sz="4100" dirty="0"/>
          </a:p>
        </p:txBody>
      </p:sp>
      <p:sp>
        <p:nvSpPr>
          <p:cNvPr id="3" name="Text 1"/>
          <p:cNvSpPr/>
          <p:nvPr/>
        </p:nvSpPr>
        <p:spPr>
          <a:xfrm>
            <a:off x="812800" y="3541105"/>
            <a:ext cx="9156700" cy="1074982"/>
          </a:xfrm>
          <a:prstGeom prst="rect">
            <a:avLst/>
          </a:prstGeom>
          <a:noFill/>
          <a:ln/>
        </p:spPr>
        <p:txBody>
          <a:bodyPr wrap="square" lIns="0" tIns="0" rIns="0" bIns="0" rtlCol="0" anchor="t">
            <a:normAutofit/>
          </a:bodyPr>
          <a:lstStyle/>
          <a:p>
            <a:pPr algn="l" indent="0" marL="0">
              <a:lnSpc>
                <a:spcPts val="2755"/>
              </a:lnSpc>
              <a:buNone/>
            </a:pPr>
            <a:r>
              <a:rPr lang="en-US" sz="1900" dirty="0">
                <a:solidFill>
                  <a:srgbClr val="F6F2E9"/>
                </a:solidFill>
                <a:latin typeface="Inter" pitchFamily="34" charset="0"/>
                <a:ea typeface="Inter" pitchFamily="34" charset="-122"/>
                <a:cs typeface="Inter" pitchFamily="34" charset="-120"/>
              </a:rPr>
              <a:t>Acquisition costs run roughly 6–10% of the purchase price on a typical second-hand home, and they land in three waves: at contract, at settlement, and then again several months later when the acquisition tax notice arrives in the post.</a:t>
            </a:r>
            <a:endParaRPr lang="en-US" sz="1900" dirty="0"/>
          </a:p>
        </p:txBody>
      </p:sp>
      <p:sp>
        <p:nvSpPr>
          <p:cNvPr id="4" name="Text 2"/>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DD4"/>
                </a:solidFill>
                <a:latin typeface="Inter" pitchFamily="34" charset="0"/>
                <a:ea typeface="Inter" pitchFamily="34" charset="-122"/>
                <a:cs typeface="Inter" pitchFamily="34" charset="-120"/>
              </a:rPr>
              <a:t>YAMA-VISTA  ·  japancheaphouses.com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341038"/>
          </a:xfrm>
          <a:prstGeom prst="rect">
            <a:avLst/>
          </a:prstGeom>
          <a:noFill/>
          <a:ln/>
        </p:spPr>
        <p:txBody>
          <a:bodyPr wrap="square" lIns="0" tIns="0" rIns="0" bIns="0" rtlCol="0" anchor="t">
            <a:normAutofit/>
          </a:bodyPr>
          <a:lstStyle/>
          <a:p>
            <a:pPr algn="l" indent="0" marL="0">
              <a:lnSpc>
                <a:spcPts val="2518"/>
              </a:lnSpc>
              <a:buNone/>
            </a:pPr>
            <a:r>
              <a:rPr lang="en-US" sz="2289" dirty="0">
                <a:solidFill>
                  <a:srgbClr val="14232E"/>
                </a:solidFill>
                <a:latin typeface="Source Serif 4" pitchFamily="34" charset="0"/>
                <a:ea typeface="Source Serif 4" pitchFamily="34" charset="-122"/>
                <a:cs typeface="Source Serif 4" pitchFamily="34" charset="-120"/>
              </a:rPr>
              <a:t>The acquisition costs, line by line</a:t>
            </a:r>
            <a:endParaRPr lang="en-US" sz="2289"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357040"/>
          <a:ext cx="10566401" cy="3952509"/>
        </p:xfrm>
        <a:graphic>
          <a:graphicData uri="http://schemas.openxmlformats.org/drawingml/2006/table">
            <a:tbl>
              <a:tblPr/>
              <a:tblGrid>
                <a:gridCol w="3522134"/>
                <a:gridCol w="3522134"/>
                <a:gridCol w="3522134"/>
              </a:tblGrid>
              <a:tr h="374558">
                <a:tc>
                  <a:txBody>
                    <a:bodyPr/>
                    <a:lstStyle/>
                    <a:p>
                      <a:pPr indent="0" marL="0">
                        <a:lnSpc>
                          <a:spcPts val="1255"/>
                        </a:lnSpc>
                        <a:buNone/>
                      </a:pPr>
                      <a:r>
                        <a:rPr lang="en-US" sz="896" b="1" dirty="0">
                          <a:solidFill>
                            <a:srgbClr val="F6F2E9"/>
                          </a:solidFill>
                          <a:latin typeface="Inter" pitchFamily="34" charset="0"/>
                          <a:ea typeface="Inter" pitchFamily="34" charset="-122"/>
                          <a:cs typeface="Inter" pitchFamily="34" charset="-120"/>
                        </a:rPr>
                        <a:t>Item</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c>
                  <a:txBody>
                    <a:bodyPr/>
                    <a:lstStyle/>
                    <a:p>
                      <a:pPr indent="0" marL="0">
                        <a:lnSpc>
                          <a:spcPts val="1255"/>
                        </a:lnSpc>
                        <a:buNone/>
                      </a:pPr>
                      <a:r>
                        <a:rPr lang="en-US" sz="896" b="1" dirty="0">
                          <a:solidFill>
                            <a:srgbClr val="F6F2E9"/>
                          </a:solidFill>
                          <a:latin typeface="Inter" pitchFamily="34" charset="0"/>
                          <a:ea typeface="Inter" pitchFamily="34" charset="-122"/>
                          <a:cs typeface="Inter" pitchFamily="34" charset="-120"/>
                        </a:rPr>
                        <a:t>Typical amount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c>
                  <a:txBody>
                    <a:bodyPr/>
                    <a:lstStyle/>
                    <a:p>
                      <a:pPr indent="0" marL="0">
                        <a:lnSpc>
                          <a:spcPts val="1255"/>
                        </a:lnSpc>
                        <a:buNone/>
                      </a:pPr>
                      <a:r>
                        <a:rPr lang="en-US" sz="896" b="1" dirty="0">
                          <a:solidFill>
                            <a:srgbClr val="F6F2E9"/>
                          </a:solidFill>
                          <a:latin typeface="Inter" pitchFamily="34" charset="0"/>
                          <a:ea typeface="Inter" pitchFamily="34" charset="-122"/>
                          <a:cs typeface="Inter" pitchFamily="34" charset="-120"/>
                        </a:rPr>
                        <a:t>When it falls due</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E4E1DA"/>
                    </a:solidFill>
                  </a:tcPr>
                </a:tc>
              </a:tr>
              <a:tr h="533888">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Agent's commission</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Capped at 3% + ¥60,000 plus consumption tax above ¥8m. At or below ¥8m, up to ¥330,000 including tax if agreed in advance</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Half at contract, half at settlement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33888">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Contract stamp duty</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 few thousand to tens of thousands of yen, scaled to the price band</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At signature</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93219">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Registration tax</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Around 1.5–2% of assessed value for the land and up to 2% for the building, with reductions for qualifying owner-occupied homes</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At settlement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4558">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Judicial scrivener</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Commonly ¥50,000–¥150,000 to verify title and file the transfer</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At settlement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33888">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Acquisition tax</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3% of assessed value for residential land and housing, with deductions that can reduce it to nil on a qualifying home</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Notice arrives months later</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74589">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Property tax share</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You reimburse the seller for the remainder of the calendar year</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At settlement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33919">
                <a:tc>
                  <a:txBody>
                    <a:bodyPr/>
                    <a:lstStyle/>
                    <a:p>
                      <a:pPr indent="0" marL="0">
                        <a:lnSpc>
                          <a:spcPts val="1255"/>
                        </a:lnSpc>
                        <a:buNone/>
                      </a:pPr>
                      <a:r>
                        <a:rPr lang="en-US" sz="896" dirty="0">
                          <a:solidFill>
                            <a:srgbClr val="14232E"/>
                          </a:solidFill>
                          <a:latin typeface="Inter" pitchFamily="34" charset="0"/>
                          <a:ea typeface="Inter" pitchFamily="34" charset="-122"/>
                          <a:cs typeface="Inter" pitchFamily="34" charset="-120"/>
                        </a:rPr>
                        <a:t>Insurance and loan fees</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Fire and earthquake cover; if borrowing, arrangement and guarantee fees plus mortgage registration tax</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255"/>
                        </a:lnSpc>
                        <a:buNone/>
                      </a:pPr>
                      <a:r>
                        <a:rPr lang="en-US" sz="896" dirty="0">
                          <a:solidFill>
                            <a:srgbClr val="5A6470"/>
                          </a:solidFill>
                          <a:latin typeface="Inter" pitchFamily="34" charset="0"/>
                          <a:ea typeface="Inter" pitchFamily="34" charset="-122"/>
                          <a:cs typeface="Inter" pitchFamily="34" charset="-120"/>
                        </a:rPr>
                        <a:t>At settlement</a:t>
                      </a:r>
                      <a:endParaRPr lang="en-US" sz="896" dirty="0">
                        <a:latin typeface="Inter" charset="0"/>
                        <a:ea typeface="Inter" charset="0"/>
                        <a:cs typeface="Inter" charset="0"/>
                      </a:endParaRPr>
                    </a:p>
                  </a:txBody>
                  <a:tcPr marL="114300" marR="1143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5549875"/>
            <a:ext cx="10595610" cy="317531"/>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5A6470"/>
                </a:solidFill>
                <a:latin typeface="Inter" pitchFamily="34" charset="0"/>
                <a:ea typeface="Inter" pitchFamily="34" charset="-122"/>
                <a:cs typeface="Inter" pitchFamily="34" charset="-120"/>
              </a:rPr>
              <a:t>Assessed value is the municipality's valuation and is normally well below the market price, so percentage figures above are smaller in cash terms than they first appear.</a:t>
            </a:r>
            <a:endParaRPr lang="en-US" sz="1095" dirty="0"/>
          </a:p>
        </p:txBody>
      </p:sp>
      <p:sp>
        <p:nvSpPr>
          <p:cNvPr id="5" name="Text 2"/>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BE5D8"/>
        </a:solidFill>
      </p:bgPr>
    </p:bg>
    <p:spTree>
      <p:nvGrpSpPr>
        <p:cNvPr id="1" name=""/>
        <p:cNvGrpSpPr/>
        <p:nvPr/>
      </p:nvGrpSpPr>
      <p:grpSpPr>
        <a:xfrm>
          <a:off x="0" y="0"/>
          <a:ext cx="0" cy="0"/>
          <a:chOff x="0" y="0"/>
          <a:chExt cx="0" cy="0"/>
        </a:xfrm>
      </p:grpSpPr>
      <p:sp>
        <p:nvSpPr>
          <p:cNvPr id="2" name="Text 0"/>
          <p:cNvSpPr/>
          <p:nvPr/>
        </p:nvSpPr>
        <p:spPr>
          <a:xfrm>
            <a:off x="812800" y="812800"/>
            <a:ext cx="10883393" cy="429266"/>
          </a:xfrm>
          <a:prstGeom prst="rect">
            <a:avLst/>
          </a:prstGeom>
          <a:noFill/>
          <a:ln/>
        </p:spPr>
        <p:txBody>
          <a:bodyPr wrap="square" lIns="0" tIns="0" rIns="0" bIns="0" rtlCol="0" anchor="t">
            <a:normAutofit/>
          </a:bodyPr>
          <a:lstStyle/>
          <a:p>
            <a:pPr algn="l" indent="0" marL="0">
              <a:lnSpc>
                <a:spcPts val="3222"/>
              </a:lnSpc>
              <a:buNone/>
            </a:pPr>
            <a:r>
              <a:rPr lang="en-US" sz="2929" dirty="0">
                <a:solidFill>
                  <a:srgbClr val="14232E"/>
                </a:solidFill>
                <a:latin typeface="Source Serif 4" pitchFamily="34" charset="0"/>
                <a:ea typeface="Source Serif 4" pitchFamily="34" charset="-122"/>
                <a:cs typeface="Source Serif 4" pitchFamily="34" charset="-120"/>
              </a:rPr>
              <a:t>What it costs every year after you own it</a:t>
            </a:r>
            <a:endParaRPr lang="en-US" sz="2929" dirty="0"/>
          </a:p>
        </p:txBody>
      </p:sp>
      <p:sp>
        <p:nvSpPr>
          <p:cNvPr id="3" name="Shape 1"/>
          <p:cNvSpPr/>
          <p:nvPr/>
        </p:nvSpPr>
        <p:spPr>
          <a:xfrm>
            <a:off x="812800" y="1470670"/>
            <a:ext cx="5194300" cy="1338598"/>
          </a:xfrm>
          <a:prstGeom prst="roundRect">
            <a:avLst>
              <a:gd name="adj" fmla="val 5693"/>
            </a:avLst>
          </a:prstGeom>
          <a:solidFill>
            <a:srgbClr val="FFFFFF"/>
          </a:solidFill>
          <a:ln/>
        </p:spPr>
      </p:sp>
      <p:sp>
        <p:nvSpPr>
          <p:cNvPr id="4" name="Text 2"/>
          <p:cNvSpPr/>
          <p:nvPr/>
        </p:nvSpPr>
        <p:spPr>
          <a:xfrm>
            <a:off x="1041400" y="1699270"/>
            <a:ext cx="4879213" cy="172122"/>
          </a:xfrm>
          <a:prstGeom prst="rect">
            <a:avLst/>
          </a:prstGeom>
          <a:noFill/>
          <a:ln/>
        </p:spPr>
        <p:txBody>
          <a:bodyPr wrap="square" lIns="0" tIns="0" rIns="0" bIns="0" rtlCol="0" anchor="t">
            <a:normAutofit/>
          </a:bodyPr>
          <a:lstStyle/>
          <a:p>
            <a:pPr algn="l" indent="0" marL="0">
              <a:lnSpc>
                <a:spcPts val="1171"/>
              </a:lnSpc>
              <a:buNone/>
            </a:pPr>
            <a:r>
              <a:rPr lang="en-US" sz="976" b="1" dirty="0">
                <a:solidFill>
                  <a:srgbClr val="B4462C"/>
                </a:solidFill>
                <a:latin typeface="Inter" pitchFamily="34" charset="0"/>
                <a:ea typeface="Inter" pitchFamily="34" charset="-122"/>
                <a:cs typeface="Inter" pitchFamily="34" charset="-120"/>
              </a:rPr>
              <a:t>Fixed asset tax</a:t>
            </a:r>
            <a:endParaRPr lang="en-US" sz="976" dirty="0"/>
          </a:p>
        </p:txBody>
      </p:sp>
      <p:sp>
        <p:nvSpPr>
          <p:cNvPr id="5" name="Text 3"/>
          <p:cNvSpPr/>
          <p:nvPr/>
        </p:nvSpPr>
        <p:spPr>
          <a:xfrm>
            <a:off x="1041400" y="1922190"/>
            <a:ext cx="4879213" cy="683877"/>
          </a:xfrm>
          <a:prstGeom prst="rect">
            <a:avLst/>
          </a:prstGeom>
          <a:noFill/>
          <a:ln/>
        </p:spPr>
        <p:txBody>
          <a:bodyPr wrap="square" lIns="0" tIns="0" rIns="0" bIns="0" rtlCol="0" anchor="t">
            <a:normAutofit/>
          </a:bodyPr>
          <a:lstStyle/>
          <a:p>
            <a:pPr algn="l" indent="0" marL="0">
              <a:lnSpc>
                <a:spcPts val="1738"/>
              </a:lnSpc>
              <a:buNone/>
            </a:pPr>
            <a:r>
              <a:rPr lang="en-US" sz="1198" dirty="0">
                <a:solidFill>
                  <a:srgbClr val="5A6470"/>
                </a:solidFill>
                <a:latin typeface="Inter" pitchFamily="34" charset="0"/>
                <a:ea typeface="Inter" pitchFamily="34" charset="-122"/>
                <a:cs typeface="Inter" pitchFamily="34" charset="-120"/>
              </a:rPr>
              <a:t>1.4% of assessed value as a standard rate, billed by the municipality in instalments. Land under a home normally receives a large reduction — which a designated derelict vacant house can lose.</a:t>
            </a:r>
            <a:endParaRPr lang="en-US" sz="1198" dirty="0"/>
          </a:p>
        </p:txBody>
      </p:sp>
      <p:sp>
        <p:nvSpPr>
          <p:cNvPr id="6" name="Shape 4"/>
          <p:cNvSpPr/>
          <p:nvPr/>
        </p:nvSpPr>
        <p:spPr>
          <a:xfrm>
            <a:off x="6184900" y="1470670"/>
            <a:ext cx="5194300" cy="1338598"/>
          </a:xfrm>
          <a:prstGeom prst="roundRect">
            <a:avLst>
              <a:gd name="adj" fmla="val 5693"/>
            </a:avLst>
          </a:prstGeom>
          <a:solidFill>
            <a:srgbClr val="FFFFFF"/>
          </a:solidFill>
          <a:ln/>
        </p:spPr>
      </p:sp>
      <p:sp>
        <p:nvSpPr>
          <p:cNvPr id="7" name="Text 5"/>
          <p:cNvSpPr/>
          <p:nvPr/>
        </p:nvSpPr>
        <p:spPr>
          <a:xfrm>
            <a:off x="6413500" y="1699270"/>
            <a:ext cx="4879213"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City planning tax</a:t>
            </a:r>
            <a:endParaRPr lang="en-US" sz="1400" dirty="0"/>
          </a:p>
        </p:txBody>
      </p:sp>
      <p:sp>
        <p:nvSpPr>
          <p:cNvPr id="8" name="Text 6"/>
          <p:cNvSpPr/>
          <p:nvPr/>
        </p:nvSpPr>
        <p:spPr>
          <a:xfrm>
            <a:off x="6413500" y="1988803"/>
            <a:ext cx="4879213" cy="50415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Up to 0.3% of assessed value, charged on top in urban promotion areas. It appears on the same bill, so read both lines.</a:t>
            </a:r>
            <a:endParaRPr lang="en-US" sz="1300" dirty="0"/>
          </a:p>
        </p:txBody>
      </p:sp>
      <p:sp>
        <p:nvSpPr>
          <p:cNvPr id="9" name="Shape 7"/>
          <p:cNvSpPr/>
          <p:nvPr/>
        </p:nvSpPr>
        <p:spPr>
          <a:xfrm>
            <a:off x="812800" y="2987067"/>
            <a:ext cx="5194300" cy="1338568"/>
          </a:xfrm>
          <a:prstGeom prst="roundRect">
            <a:avLst>
              <a:gd name="adj" fmla="val 5693"/>
            </a:avLst>
          </a:prstGeom>
          <a:solidFill>
            <a:srgbClr val="FFFFFF"/>
          </a:solidFill>
          <a:ln/>
        </p:spPr>
      </p:sp>
      <p:sp>
        <p:nvSpPr>
          <p:cNvPr id="10" name="Text 8"/>
          <p:cNvSpPr/>
          <p:nvPr/>
        </p:nvSpPr>
        <p:spPr>
          <a:xfrm>
            <a:off x="1041400" y="3215667"/>
            <a:ext cx="4879213" cy="20982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B4462C"/>
                </a:solidFill>
                <a:latin typeface="Inter" pitchFamily="34" charset="0"/>
                <a:ea typeface="Inter" pitchFamily="34" charset="-122"/>
                <a:cs typeface="Inter" pitchFamily="34" charset="-120"/>
              </a:rPr>
              <a:t>Condominium charges</a:t>
            </a:r>
            <a:endParaRPr lang="en-US" sz="1225" dirty="0"/>
          </a:p>
        </p:txBody>
      </p:sp>
      <p:sp>
        <p:nvSpPr>
          <p:cNvPr id="11" name="Text 9"/>
          <p:cNvSpPr/>
          <p:nvPr/>
        </p:nvSpPr>
        <p:spPr>
          <a:xfrm>
            <a:off x="1041400" y="3476290"/>
            <a:ext cx="4879213" cy="646143"/>
          </a:xfrm>
          <a:prstGeom prst="rect">
            <a:avLst/>
          </a:prstGeom>
          <a:noFill/>
          <a:ln/>
        </p:spPr>
        <p:txBody>
          <a:bodyPr wrap="square" lIns="0" tIns="0" rIns="0" bIns="0" rtlCol="0" anchor="t">
            <a:normAutofit/>
          </a:bodyPr>
          <a:lstStyle/>
          <a:p>
            <a:pPr algn="l" indent="0" marL="0">
              <a:lnSpc>
                <a:spcPts val="1638"/>
              </a:lnSpc>
              <a:buNone/>
            </a:pPr>
            <a:r>
              <a:rPr lang="en-US" sz="1129" dirty="0">
                <a:solidFill>
                  <a:srgbClr val="5A6470"/>
                </a:solidFill>
                <a:latin typeface="Inter" pitchFamily="34" charset="0"/>
                <a:ea typeface="Inter" pitchFamily="34" charset="-122"/>
                <a:cs typeface="Inter" pitchFamily="34" charset="-120"/>
              </a:rPr>
              <a:t>Management fee plus a repair reserve, paid monthly and rising over a building's life. On an older block these can exceed the mortgage on a cheap unit.</a:t>
            </a:r>
            <a:endParaRPr lang="en-US" sz="1129" dirty="0"/>
          </a:p>
        </p:txBody>
      </p:sp>
      <p:sp>
        <p:nvSpPr>
          <p:cNvPr id="12" name="Shape 10"/>
          <p:cNvSpPr/>
          <p:nvPr/>
        </p:nvSpPr>
        <p:spPr>
          <a:xfrm>
            <a:off x="6184900" y="2987067"/>
            <a:ext cx="5194300" cy="1338568"/>
          </a:xfrm>
          <a:prstGeom prst="roundRect">
            <a:avLst>
              <a:gd name="adj" fmla="val 5693"/>
            </a:avLst>
          </a:prstGeom>
          <a:solidFill>
            <a:srgbClr val="FFFFFF"/>
          </a:solidFill>
          <a:ln/>
        </p:spPr>
      </p:sp>
      <p:sp>
        <p:nvSpPr>
          <p:cNvPr id="13" name="Text 11"/>
          <p:cNvSpPr/>
          <p:nvPr/>
        </p:nvSpPr>
        <p:spPr>
          <a:xfrm>
            <a:off x="6413500" y="3215667"/>
            <a:ext cx="4879213" cy="20982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B4462C"/>
                </a:solidFill>
                <a:latin typeface="Inter" pitchFamily="34" charset="0"/>
                <a:ea typeface="Inter" pitchFamily="34" charset="-122"/>
                <a:cs typeface="Inter" pitchFamily="34" charset="-120"/>
              </a:rPr>
              <a:t>Insurance</a:t>
            </a:r>
            <a:endParaRPr lang="en-US" sz="1225" dirty="0"/>
          </a:p>
        </p:txBody>
      </p:sp>
      <p:sp>
        <p:nvSpPr>
          <p:cNvPr id="14" name="Text 12"/>
          <p:cNvSpPr/>
          <p:nvPr/>
        </p:nvSpPr>
        <p:spPr>
          <a:xfrm>
            <a:off x="6413500" y="3476290"/>
            <a:ext cx="4879213" cy="646143"/>
          </a:xfrm>
          <a:prstGeom prst="rect">
            <a:avLst/>
          </a:prstGeom>
          <a:noFill/>
          <a:ln/>
        </p:spPr>
        <p:txBody>
          <a:bodyPr wrap="square" lIns="0" tIns="0" rIns="0" bIns="0" rtlCol="0" anchor="t">
            <a:normAutofit/>
          </a:bodyPr>
          <a:lstStyle/>
          <a:p>
            <a:pPr algn="l" indent="0" marL="0">
              <a:lnSpc>
                <a:spcPts val="1638"/>
              </a:lnSpc>
              <a:buNone/>
            </a:pPr>
            <a:r>
              <a:rPr lang="en-US" sz="1129" dirty="0">
                <a:solidFill>
                  <a:srgbClr val="5A6470"/>
                </a:solidFill>
                <a:latin typeface="Inter" pitchFamily="34" charset="0"/>
                <a:ea typeface="Inter" pitchFamily="34" charset="-122"/>
                <a:cs typeface="Inter" pitchFamily="34" charset="-120"/>
              </a:rPr>
              <a:t>Fire cover is effectively mandatory with a loan; earthquake cover is an add-on priced by structure and prefecture, and is capped relative to the fire sum insured.</a:t>
            </a:r>
            <a:endParaRPr lang="en-US" sz="1129" dirty="0"/>
          </a:p>
        </p:txBody>
      </p:sp>
      <p:sp>
        <p:nvSpPr>
          <p:cNvPr id="15" name="Shape 13"/>
          <p:cNvSpPr/>
          <p:nvPr/>
        </p:nvSpPr>
        <p:spPr>
          <a:xfrm>
            <a:off x="812800" y="4503440"/>
            <a:ext cx="5194300" cy="1338568"/>
          </a:xfrm>
          <a:prstGeom prst="roundRect">
            <a:avLst>
              <a:gd name="adj" fmla="val 5693"/>
            </a:avLst>
          </a:prstGeom>
          <a:solidFill>
            <a:srgbClr val="FFFFFF"/>
          </a:solidFill>
          <a:ln/>
        </p:spPr>
      </p:sp>
      <p:sp>
        <p:nvSpPr>
          <p:cNvPr id="16" name="Text 14"/>
          <p:cNvSpPr/>
          <p:nvPr/>
        </p:nvSpPr>
        <p:spPr>
          <a:xfrm>
            <a:off x="1041400" y="4732040"/>
            <a:ext cx="4879213" cy="20982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B4462C"/>
                </a:solidFill>
                <a:latin typeface="Inter" pitchFamily="34" charset="0"/>
                <a:ea typeface="Inter" pitchFamily="34" charset="-122"/>
                <a:cs typeface="Inter" pitchFamily="34" charset="-120"/>
              </a:rPr>
              <a:t>Upkeep of an empty house</a:t>
            </a:r>
            <a:endParaRPr lang="en-US" sz="1225" dirty="0"/>
          </a:p>
        </p:txBody>
      </p:sp>
      <p:sp>
        <p:nvSpPr>
          <p:cNvPr id="17" name="Text 15"/>
          <p:cNvSpPr/>
          <p:nvPr/>
        </p:nvSpPr>
        <p:spPr>
          <a:xfrm>
            <a:off x="1041400" y="4992663"/>
            <a:ext cx="4879213" cy="646143"/>
          </a:xfrm>
          <a:prstGeom prst="rect">
            <a:avLst/>
          </a:prstGeom>
          <a:noFill/>
          <a:ln/>
        </p:spPr>
        <p:txBody>
          <a:bodyPr wrap="square" lIns="0" tIns="0" rIns="0" bIns="0" rtlCol="0" anchor="t">
            <a:normAutofit/>
          </a:bodyPr>
          <a:lstStyle/>
          <a:p>
            <a:pPr algn="l" indent="0" marL="0">
              <a:lnSpc>
                <a:spcPts val="1638"/>
              </a:lnSpc>
              <a:buNone/>
            </a:pPr>
            <a:r>
              <a:rPr lang="en-US" sz="1129" dirty="0">
                <a:solidFill>
                  <a:srgbClr val="5A6470"/>
                </a:solidFill>
                <a:latin typeface="Inter" pitchFamily="34" charset="0"/>
                <a:ea typeface="Inter" pitchFamily="34" charset="-122"/>
                <a:cs typeface="Inter" pitchFamily="34" charset="-120"/>
              </a:rPr>
              <a:t>Ventilation, garden, snow clearing and a caretaker if you are abroad. Budget for it — an unattended house in a humid climate deteriorates within a single season.</a:t>
            </a:r>
            <a:endParaRPr lang="en-US" sz="1129" dirty="0"/>
          </a:p>
        </p:txBody>
      </p:sp>
      <p:sp>
        <p:nvSpPr>
          <p:cNvPr id="18" name="Shape 16"/>
          <p:cNvSpPr/>
          <p:nvPr/>
        </p:nvSpPr>
        <p:spPr>
          <a:xfrm>
            <a:off x="6184900" y="4503440"/>
            <a:ext cx="5194300" cy="1338568"/>
          </a:xfrm>
          <a:prstGeom prst="roundRect">
            <a:avLst>
              <a:gd name="adj" fmla="val 5693"/>
            </a:avLst>
          </a:prstGeom>
          <a:solidFill>
            <a:srgbClr val="FFFFFF"/>
          </a:solidFill>
          <a:ln/>
        </p:spPr>
      </p:sp>
      <p:sp>
        <p:nvSpPr>
          <p:cNvPr id="19" name="Text 17"/>
          <p:cNvSpPr/>
          <p:nvPr/>
        </p:nvSpPr>
        <p:spPr>
          <a:xfrm>
            <a:off x="6413500" y="4732040"/>
            <a:ext cx="4879213" cy="20982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B4462C"/>
                </a:solidFill>
                <a:latin typeface="Inter" pitchFamily="34" charset="0"/>
                <a:ea typeface="Inter" pitchFamily="34" charset="-122"/>
                <a:cs typeface="Inter" pitchFamily="34" charset="-120"/>
              </a:rPr>
              <a:t>Neighbourhood association</a:t>
            </a:r>
            <a:endParaRPr lang="en-US" sz="1225" dirty="0"/>
          </a:p>
        </p:txBody>
      </p:sp>
      <p:sp>
        <p:nvSpPr>
          <p:cNvPr id="20" name="Text 18"/>
          <p:cNvSpPr/>
          <p:nvPr/>
        </p:nvSpPr>
        <p:spPr>
          <a:xfrm>
            <a:off x="6413500" y="4992663"/>
            <a:ext cx="4879213" cy="646143"/>
          </a:xfrm>
          <a:prstGeom prst="rect">
            <a:avLst/>
          </a:prstGeom>
          <a:noFill/>
          <a:ln/>
        </p:spPr>
        <p:txBody>
          <a:bodyPr wrap="square" lIns="0" tIns="0" rIns="0" bIns="0" rtlCol="0" anchor="t">
            <a:normAutofit/>
          </a:bodyPr>
          <a:lstStyle/>
          <a:p>
            <a:pPr algn="l" indent="0" marL="0">
              <a:lnSpc>
                <a:spcPts val="1726"/>
              </a:lnSpc>
              <a:buNone/>
            </a:pPr>
            <a:r>
              <a:rPr lang="en-US" sz="1190" dirty="0">
                <a:solidFill>
                  <a:srgbClr val="5A6470"/>
                </a:solidFill>
                <a:latin typeface="Inter" pitchFamily="34" charset="0"/>
                <a:ea typeface="Inter" pitchFamily="34" charset="-122"/>
                <a:cs typeface="Inter" pitchFamily="34" charset="-120"/>
              </a:rPr>
              <a:t>A modest annual fee in most rural districts, plus expected participation in cleaning days and festivals. Small money, large goodwill.</a:t>
            </a:r>
            <a:endParaRPr lang="en-US" sz="1190" dirty="0"/>
          </a:p>
        </p:txBody>
      </p:sp>
      <p:sp>
        <p:nvSpPr>
          <p:cNvPr id="21" name="Text 19"/>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390922"/>
          </a:xfrm>
          <a:prstGeom prst="rect">
            <a:avLst/>
          </a:prstGeom>
          <a:noFill/>
          <a:ln/>
        </p:spPr>
        <p:txBody>
          <a:bodyPr wrap="square" lIns="0" tIns="0" rIns="0" bIns="0" rtlCol="0" anchor="t">
            <a:normAutofit/>
          </a:bodyPr>
          <a:lstStyle/>
          <a:p>
            <a:pPr algn="l" indent="0" marL="0">
              <a:lnSpc>
                <a:spcPts val="2915"/>
              </a:lnSpc>
              <a:buNone/>
            </a:pPr>
            <a:r>
              <a:rPr lang="en-US" sz="2650" dirty="0">
                <a:solidFill>
                  <a:srgbClr val="F6F2E9"/>
                </a:solidFill>
                <a:latin typeface="Source Serif 4" pitchFamily="34" charset="0"/>
                <a:ea typeface="Source Serif 4" pitchFamily="34" charset="-122"/>
                <a:cs typeface="Source Serif 4" pitchFamily="34" charset="-120"/>
              </a:rPr>
              <a:t>Who can actually get a Japanese mortgage</a:t>
            </a:r>
            <a:endParaRPr lang="en-US" sz="26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06922"/>
          <a:ext cx="10566401" cy="3434190"/>
        </p:xfrm>
        <a:graphic>
          <a:graphicData uri="http://schemas.openxmlformats.org/drawingml/2006/table">
            <a:tbl>
              <a:tblPr/>
              <a:tblGrid>
                <a:gridCol w="5283200"/>
                <a:gridCol w="5283200"/>
              </a:tblGrid>
              <a:tr h="426488">
                <a:tc>
                  <a:txBody>
                    <a:bodyPr/>
                    <a:lstStyle/>
                    <a:p>
                      <a:pPr indent="0" marL="0">
                        <a:lnSpc>
                          <a:spcPts val="1378"/>
                        </a:lnSpc>
                        <a:buNone/>
                      </a:pPr>
                      <a:r>
                        <a:rPr lang="en-US" sz="984" b="1" dirty="0">
                          <a:solidFill>
                            <a:srgbClr val="14232E"/>
                          </a:solidFill>
                          <a:latin typeface="Inter" pitchFamily="34" charset="0"/>
                          <a:ea typeface="Inter" pitchFamily="34" charset="-122"/>
                          <a:cs typeface="Inter" pitchFamily="34" charset="-120"/>
                        </a:rPr>
                        <a:t>Your situation</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solidFill>
                      <a:srgbClr val="26343D"/>
                    </a:solidFill>
                  </a:tcPr>
                </a:tc>
                <a:tc>
                  <a:txBody>
                    <a:bodyPr/>
                    <a:lstStyle/>
                    <a:p>
                      <a:pPr indent="0" marL="0">
                        <a:lnSpc>
                          <a:spcPts val="1378"/>
                        </a:lnSpc>
                        <a:buNone/>
                      </a:pPr>
                      <a:r>
                        <a:rPr lang="en-US" sz="984" b="1" dirty="0">
                          <a:solidFill>
                            <a:srgbClr val="14232E"/>
                          </a:solidFill>
                          <a:latin typeface="Inter" pitchFamily="34" charset="0"/>
                          <a:ea typeface="Inter" pitchFamily="34" charset="-122"/>
                          <a:cs typeface="Inter" pitchFamily="34" charset="-120"/>
                        </a:rPr>
                        <a:t>Realistic outlook</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solidFill>
                      <a:srgbClr val="26343D"/>
                    </a:solidFill>
                  </a:tcPr>
                </a:tc>
              </a:tr>
              <a:tr h="601540">
                <a:tc>
                  <a:txBody>
                    <a:bodyPr/>
                    <a:lstStyle/>
                    <a:p>
                      <a:pPr indent="0" marL="0">
                        <a:lnSpc>
                          <a:spcPts val="1378"/>
                        </a:lnSpc>
                        <a:buNone/>
                      </a:pPr>
                      <a:r>
                        <a:rPr lang="en-US" sz="984" dirty="0">
                          <a:solidFill>
                            <a:srgbClr val="F6F2E9"/>
                          </a:solidFill>
                          <a:latin typeface="Inter" pitchFamily="34" charset="0"/>
                          <a:ea typeface="Inter" pitchFamily="34" charset="-122"/>
                          <a:cs typeface="Inter" pitchFamily="34" charset="-120"/>
                        </a:rPr>
                        <a:t>Permanent resident</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378"/>
                        </a:lnSpc>
                        <a:buNone/>
                      </a:pPr>
                      <a:r>
                        <a:rPr lang="en-US" sz="984" dirty="0">
                          <a:solidFill>
                            <a:srgbClr val="A9B7C0"/>
                          </a:solidFill>
                          <a:latin typeface="Inter" pitchFamily="34" charset="0"/>
                          <a:ea typeface="Inter" pitchFamily="34" charset="-122"/>
                          <a:cs typeface="Inter" pitchFamily="34" charset="-120"/>
                        </a:rPr>
                        <a:t>Treated broadly like a Japanese applicant. Access to the widest range of lenders and the longest terms.</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01540">
                <a:tc>
                  <a:txBody>
                    <a:bodyPr/>
                    <a:lstStyle/>
                    <a:p>
                      <a:pPr indent="0" marL="0">
                        <a:lnSpc>
                          <a:spcPts val="1378"/>
                        </a:lnSpc>
                        <a:buNone/>
                      </a:pPr>
                      <a:r>
                        <a:rPr lang="en-US" sz="984" dirty="0">
                          <a:solidFill>
                            <a:srgbClr val="F6F2E9"/>
                          </a:solidFill>
                          <a:latin typeface="Inter" pitchFamily="34" charset="0"/>
                          <a:ea typeface="Inter" pitchFamily="34" charset="-122"/>
                          <a:cs typeface="Inter" pitchFamily="34" charset="-120"/>
                        </a:rPr>
                        <a:t>Married to a Japanese national</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378"/>
                        </a:lnSpc>
                        <a:buNone/>
                      </a:pPr>
                      <a:r>
                        <a:rPr lang="en-US" sz="984" dirty="0">
                          <a:solidFill>
                            <a:srgbClr val="A9B7C0"/>
                          </a:solidFill>
                          <a:latin typeface="Inter" pitchFamily="34" charset="0"/>
                          <a:ea typeface="Inter" pitchFamily="34" charset="-122"/>
                          <a:cs typeface="Inter" pitchFamily="34" charset="-120"/>
                        </a:rPr>
                        <a:t>Often workable with the spouse as co-borrower or guarantor, even without permanent residency.</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01540">
                <a:tc>
                  <a:txBody>
                    <a:bodyPr/>
                    <a:lstStyle/>
                    <a:p>
                      <a:pPr indent="0" marL="0">
                        <a:lnSpc>
                          <a:spcPts val="1378"/>
                        </a:lnSpc>
                        <a:buNone/>
                      </a:pPr>
                      <a:r>
                        <a:rPr lang="en-US" sz="984" dirty="0">
                          <a:solidFill>
                            <a:srgbClr val="F6F2E9"/>
                          </a:solidFill>
                          <a:latin typeface="Inter" pitchFamily="34" charset="0"/>
                          <a:ea typeface="Inter" pitchFamily="34" charset="-122"/>
                          <a:cs typeface="Inter" pitchFamily="34" charset="-120"/>
                        </a:rPr>
                        <a:t>Resident, no permanent residency</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378"/>
                        </a:lnSpc>
                        <a:buNone/>
                      </a:pPr>
                      <a:r>
                        <a:rPr lang="en-US" sz="984" dirty="0">
                          <a:solidFill>
                            <a:srgbClr val="A9B7C0"/>
                          </a:solidFill>
                          <a:latin typeface="Inter" pitchFamily="34" charset="0"/>
                          <a:ea typeface="Inter" pitchFamily="34" charset="-122"/>
                          <a:cs typeface="Inter" pitchFamily="34" charset="-120"/>
                        </a:rPr>
                        <a:t>A narrower set of banks will consider you. Expect scrutiny of visa type and remaining term, employment history, a larger deposit, and a requirement to handle business in Japanese.</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01540">
                <a:tc>
                  <a:txBody>
                    <a:bodyPr/>
                    <a:lstStyle/>
                    <a:p>
                      <a:pPr indent="0" marL="0">
                        <a:lnSpc>
                          <a:spcPts val="1378"/>
                        </a:lnSpc>
                        <a:buNone/>
                      </a:pPr>
                      <a:r>
                        <a:rPr lang="en-US" sz="984" dirty="0">
                          <a:solidFill>
                            <a:srgbClr val="F6F2E9"/>
                          </a:solidFill>
                          <a:latin typeface="Inter" pitchFamily="34" charset="0"/>
                          <a:ea typeface="Inter" pitchFamily="34" charset="-122"/>
                          <a:cs typeface="Inter" pitchFamily="34" charset="-120"/>
                        </a:rPr>
                        <a:t>Living outside Japan</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378"/>
                        </a:lnSpc>
                        <a:buNone/>
                      </a:pPr>
                      <a:r>
                        <a:rPr lang="en-US" sz="984" dirty="0">
                          <a:solidFill>
                            <a:srgbClr val="A9B7C0"/>
                          </a:solidFill>
                          <a:latin typeface="Inter" pitchFamily="34" charset="0"/>
                          <a:ea typeface="Inter" pitchFamily="34" charset="-122"/>
                          <a:cs typeface="Inter" pitchFamily="34" charset="-120"/>
                        </a:rPr>
                        <a:t>Domestic mortgages are generally unavailable. Assume cash, funds raised against property at home, or a specialist cross-border lender.</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r h="601540">
                <a:tc>
                  <a:txBody>
                    <a:bodyPr/>
                    <a:lstStyle/>
                    <a:p>
                      <a:pPr indent="0" marL="0">
                        <a:lnSpc>
                          <a:spcPts val="1378"/>
                        </a:lnSpc>
                        <a:buNone/>
                      </a:pPr>
                      <a:r>
                        <a:rPr lang="en-US" sz="984" dirty="0">
                          <a:solidFill>
                            <a:srgbClr val="F6F2E9"/>
                          </a:solidFill>
                          <a:latin typeface="Inter" pitchFamily="34" charset="0"/>
                          <a:ea typeface="Inter" pitchFamily="34" charset="-122"/>
                          <a:cs typeface="Inter" pitchFamily="34" charset="-120"/>
                        </a:rPr>
                        <a:t>Buying a cheap old house</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c>
                  <a:txBody>
                    <a:bodyPr/>
                    <a:lstStyle/>
                    <a:p>
                      <a:pPr indent="0" marL="0">
                        <a:lnSpc>
                          <a:spcPts val="1378"/>
                        </a:lnSpc>
                        <a:buNone/>
                      </a:pPr>
                      <a:r>
                        <a:rPr lang="en-US" sz="984" dirty="0">
                          <a:solidFill>
                            <a:srgbClr val="A9B7C0"/>
                          </a:solidFill>
                          <a:latin typeface="Inter" pitchFamily="34" charset="0"/>
                          <a:ea typeface="Inter" pitchFamily="34" charset="-122"/>
                          <a:cs typeface="Inter" pitchFamily="34" charset="-120"/>
                        </a:rPr>
                        <a:t>Status may not matter: lenders decline pre-1981 construction, non-rebuildable plots and low-value rural collateral regardless of the borrower.</a:t>
                      </a:r>
                      <a:endParaRPr lang="en-US" sz="984" dirty="0">
                        <a:latin typeface="Inter" charset="0"/>
                        <a:ea typeface="Inter" charset="0"/>
                        <a:cs typeface="Inter" charset="0"/>
                      </a:endParaRPr>
                    </a:p>
                  </a:txBody>
                  <a:tcPr marL="127000" marR="127000" marT="114300" marB="114300" anchor="t">
                    <a:lnL w="12700" cap="flat" cmpd="sng" algn="ctr">
                      <a:solidFill>
                        <a:srgbClr val="465157"/>
                      </a:solidFill>
                      <a:prstDash val="solid"/>
                      <a:round/>
                      <a:headEnd type="none" w="med" len="med"/>
                      <a:tailEnd type="none" w="med" len="med"/>
                    </a:lnL>
                    <a:lnR w="12700" cap="flat" cmpd="sng" algn="ctr">
                      <a:solidFill>
                        <a:srgbClr val="465157"/>
                      </a:solidFill>
                      <a:prstDash val="solid"/>
                      <a:round/>
                      <a:headEnd type="none" w="med" len="med"/>
                      <a:tailEnd type="none" w="med" len="med"/>
                    </a:lnR>
                    <a:lnT w="12700" cap="flat" cmpd="sng" algn="ctr">
                      <a:solidFill>
                        <a:srgbClr val="465157"/>
                      </a:solidFill>
                      <a:prstDash val="solid"/>
                      <a:round/>
                      <a:headEnd type="none" w="med" len="med"/>
                      <a:tailEnd type="none" w="med" len="med"/>
                    </a:lnT>
                    <a:lnB w="12700" cap="flat" cmpd="sng" algn="ctr">
                      <a:solidFill>
                        <a:srgbClr val="465157"/>
                      </a:solidFill>
                      <a:prstDash val="solid"/>
                      <a:round/>
                      <a:headEnd type="none" w="med" len="med"/>
                      <a:tailEnd type="none" w="med" len="med"/>
                    </a:lnB>
                  </a:tcPr>
                </a:tc>
              </a:tr>
            </a:tbl>
          </a:graphicData>
        </a:graphic>
      </p:graphicFrame>
      <p:sp>
        <p:nvSpPr>
          <p:cNvPr id="4" name="Shape 1"/>
          <p:cNvSpPr/>
          <p:nvPr/>
        </p:nvSpPr>
        <p:spPr>
          <a:xfrm>
            <a:off x="812800" y="5081439"/>
            <a:ext cx="10566401" cy="760565"/>
          </a:xfrm>
          <a:prstGeom prst="roundRect">
            <a:avLst>
              <a:gd name="adj" fmla="val 10019"/>
            </a:avLst>
          </a:prstGeom>
          <a:solidFill>
            <a:srgbClr val="1D3040"/>
          </a:solidFill>
          <a:ln/>
        </p:spPr>
      </p:sp>
      <p:sp>
        <p:nvSpPr>
          <p:cNvPr id="5" name="Text 2"/>
          <p:cNvSpPr/>
          <p:nvPr/>
        </p:nvSpPr>
        <p:spPr>
          <a:xfrm>
            <a:off x="1054100" y="5271939"/>
            <a:ext cx="10386314" cy="404965"/>
          </a:xfrm>
          <a:prstGeom prst="rect">
            <a:avLst/>
          </a:prstGeom>
          <a:noFill/>
          <a:ln/>
        </p:spPr>
        <p:txBody>
          <a:bodyPr wrap="square" lIns="0" tIns="0" rIns="0" bIns="0" rtlCol="0" anchor="t">
            <a:normAutofit/>
          </a:bodyPr>
          <a:lstStyle/>
          <a:p>
            <a:pPr algn="l" indent="0" marL="0">
              <a:lnSpc>
                <a:spcPts val="1520"/>
              </a:lnSpc>
              <a:buNone/>
            </a:pPr>
            <a:r>
              <a:rPr lang="en-US" sz="1048" dirty="0">
                <a:solidFill>
                  <a:srgbClr val="F6F2E9"/>
                </a:solidFill>
                <a:latin typeface="Inter" pitchFamily="34" charset="0"/>
                <a:ea typeface="Inter" pitchFamily="34" charset="-122"/>
                <a:cs typeface="Inter" pitchFamily="34" charset="-120"/>
              </a:rPr>
              <a:t>Two properties at the same price are not equally financeable. Before falling for a house, ask the agent one question: </a:t>
            </a:r>
            <a:r>
              <a:rPr lang="en-US" sz="1048" b="1" dirty="0">
                <a:solidFill>
                  <a:srgbClr val="F6F2E9"/>
                </a:solidFill>
                <a:latin typeface="Inter" pitchFamily="34" charset="0"/>
                <a:ea typeface="Inter" pitchFamily="34" charset="-122"/>
                <a:cs typeface="Inter" pitchFamily="34" charset="-120"/>
              </a:rPr>
              <a:t>has anyone ever obtained a loan against this building?</a:t>
            </a:r>
            <a:endParaRPr lang="en-US" sz="1048" dirty="0"/>
          </a:p>
        </p:txBody>
      </p:sp>
      <p:sp>
        <p:nvSpPr>
          <p:cNvPr id="6" name="Text 3"/>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7A3"/>
                </a:solidFill>
                <a:latin typeface="Inter" pitchFamily="34" charset="0"/>
                <a:ea typeface="Inter" pitchFamily="34" charset="-122"/>
                <a:cs typeface="Inter" pitchFamily="34" charset="-120"/>
              </a:rPr>
              <a:t>YAMA-VISTA  ·  japancheaphouses.com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903807"/>
          </a:xfrm>
          <a:prstGeom prst="rect">
            <a:avLst/>
          </a:prstGeom>
          <a:noFill/>
          <a:ln/>
        </p:spPr>
        <p:txBody>
          <a:bodyPr wrap="square" lIns="0" tIns="0" rIns="0" bIns="0" rtlCol="0" anchor="t">
            <a:normAutofit/>
          </a:bodyPr>
          <a:lstStyle/>
          <a:p>
            <a:pPr algn="l" indent="0" marL="0">
              <a:lnSpc>
                <a:spcPts val="3505"/>
              </a:lnSpc>
              <a:buNone/>
            </a:pPr>
            <a:r>
              <a:rPr lang="en-US" sz="3187" dirty="0">
                <a:solidFill>
                  <a:srgbClr val="14232E"/>
                </a:solidFill>
                <a:latin typeface="Source Serif 4" pitchFamily="34" charset="0"/>
                <a:ea typeface="Source Serif 4" pitchFamily="34" charset="-122"/>
                <a:cs typeface="Source Serif 4" pitchFamily="34" charset="-120"/>
              </a:rPr>
              <a:t>Renovation: budget it properly, and know the new rule</a:t>
            </a:r>
            <a:endParaRPr lang="en-US" sz="3187" dirty="0"/>
          </a:p>
        </p:txBody>
      </p:sp>
      <p:sp>
        <p:nvSpPr>
          <p:cNvPr id="3" name="Shape 1"/>
          <p:cNvSpPr/>
          <p:nvPr/>
        </p:nvSpPr>
        <p:spPr>
          <a:xfrm>
            <a:off x="812800" y="1919808"/>
            <a:ext cx="10566401" cy="1854780"/>
          </a:xfrm>
          <a:prstGeom prst="roundRect">
            <a:avLst>
              <a:gd name="adj" fmla="val 4108"/>
            </a:avLst>
          </a:prstGeom>
          <a:solidFill>
            <a:srgbClr val="B4462C"/>
          </a:solidFill>
          <a:ln/>
        </p:spPr>
      </p:sp>
      <p:sp>
        <p:nvSpPr>
          <p:cNvPr id="4" name="Text 2"/>
          <p:cNvSpPr/>
          <p:nvPr/>
        </p:nvSpPr>
        <p:spPr>
          <a:xfrm>
            <a:off x="1079500" y="2148408"/>
            <a:ext cx="10333990" cy="243193"/>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F6F2E9"/>
                </a:solidFill>
                <a:latin typeface="Inter" pitchFamily="34" charset="0"/>
                <a:ea typeface="Inter" pitchFamily="34" charset="-122"/>
                <a:cs typeface="Inter" pitchFamily="34" charset="-120"/>
              </a:rPr>
              <a:t>Changed in April 2025</a:t>
            </a:r>
            <a:endParaRPr lang="en-US" sz="1434" dirty="0"/>
          </a:p>
        </p:txBody>
      </p:sp>
      <p:sp>
        <p:nvSpPr>
          <p:cNvPr id="5" name="Text 3"/>
          <p:cNvSpPr/>
          <p:nvPr/>
        </p:nvSpPr>
        <p:spPr>
          <a:xfrm>
            <a:off x="1079500" y="2366206"/>
            <a:ext cx="9810750" cy="1205187"/>
          </a:xfrm>
          <a:prstGeom prst="rect">
            <a:avLst/>
          </a:prstGeom>
          <a:noFill/>
          <a:ln/>
        </p:spPr>
        <p:txBody>
          <a:bodyPr wrap="square" lIns="0" tIns="0" rIns="0" bIns="0" rtlCol="0" anchor="t">
            <a:normAutofit/>
          </a:bodyPr>
          <a:lstStyle/>
          <a:p>
            <a:pPr algn="l" indent="0" marL="0">
              <a:lnSpc>
                <a:spcPts val="1920"/>
              </a:lnSpc>
              <a:buNone/>
            </a:pPr>
            <a:r>
              <a:rPr lang="en-US" sz="1280" dirty="0">
                <a:solidFill>
                  <a:srgbClr val="F6F2E9"/>
                </a:solidFill>
                <a:latin typeface="Inter" pitchFamily="34" charset="0"/>
                <a:ea typeface="Inter" pitchFamily="34" charset="-122"/>
                <a:cs typeface="Inter" pitchFamily="34" charset="-120"/>
              </a:rPr>
              <a:t>An exemption that let most small wooden houses be renovated without a building permit was cut back. Timber houses other than single-storey buildings of 200 square metres or less now require a building confirmation application for major structural repair or alteration — meaning work touching more than half of the walls, columns, floors, beams, roof or stairs. Expect an architect, a formal application, extra weeks and extra cost, and on a legally non-conforming or non-rebuildable plot the work may not be permitted at all.</a:t>
            </a:r>
            <a:endParaRPr lang="en-US" sz="1280" dirty="0"/>
          </a:p>
        </p:txBody>
      </p:sp>
      <p:sp>
        <p:nvSpPr>
          <p:cNvPr id="6" name="Shape 4"/>
          <p:cNvSpPr/>
          <p:nvPr/>
        </p:nvSpPr>
        <p:spPr>
          <a:xfrm>
            <a:off x="815975" y="4006366"/>
            <a:ext cx="3397250" cy="1832464"/>
          </a:xfrm>
          <a:prstGeom prst="roundRect">
            <a:avLst>
              <a:gd name="adj" fmla="val 3985"/>
            </a:avLst>
          </a:prstGeom>
          <a:solidFill>
            <a:srgbClr val="FFFFFF"/>
          </a:solidFill>
          <a:ln w="6350">
            <a:solidFill>
              <a:srgbClr val="DDD6C6"/>
            </a:solidFill>
            <a:prstDash val="solid"/>
          </a:ln>
        </p:spPr>
      </p:sp>
      <p:sp>
        <p:nvSpPr>
          <p:cNvPr id="7" name="Text 5"/>
          <p:cNvSpPr/>
          <p:nvPr/>
        </p:nvSpPr>
        <p:spPr>
          <a:xfrm>
            <a:off x="1034562" y="4224958"/>
            <a:ext cx="304887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32E"/>
                </a:solidFill>
                <a:latin typeface="Inter" pitchFamily="34" charset="0"/>
                <a:ea typeface="Inter" pitchFamily="34" charset="-122"/>
                <a:cs typeface="Inter" pitchFamily="34" charset="-120"/>
              </a:rPr>
              <a:t>Get quotes before you offer</a:t>
            </a:r>
            <a:endParaRPr lang="en-US" sz="1400" dirty="0"/>
          </a:p>
        </p:txBody>
      </p:sp>
      <p:sp>
        <p:nvSpPr>
          <p:cNvPr id="8" name="Text 6"/>
          <p:cNvSpPr/>
          <p:nvPr/>
        </p:nvSpPr>
        <p:spPr>
          <a:xfrm>
            <a:off x="1034562" y="4514490"/>
            <a:ext cx="3048879"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Walk a local builder through the property during your viewing window and put a real number on roof, foundation, wiring, plumbing and insulation.</a:t>
            </a:r>
            <a:endParaRPr lang="en-US" sz="1300" dirty="0"/>
          </a:p>
        </p:txBody>
      </p:sp>
      <p:sp>
        <p:nvSpPr>
          <p:cNvPr id="9" name="Shape 7"/>
          <p:cNvSpPr/>
          <p:nvPr/>
        </p:nvSpPr>
        <p:spPr>
          <a:xfrm>
            <a:off x="4397375" y="4006366"/>
            <a:ext cx="3397250" cy="1832464"/>
          </a:xfrm>
          <a:prstGeom prst="roundRect">
            <a:avLst>
              <a:gd name="adj" fmla="val 3985"/>
            </a:avLst>
          </a:prstGeom>
          <a:solidFill>
            <a:srgbClr val="FFFFFF"/>
          </a:solidFill>
          <a:ln w="6350">
            <a:solidFill>
              <a:srgbClr val="DDD6C6"/>
            </a:solidFill>
            <a:prstDash val="solid"/>
          </a:ln>
        </p:spPr>
      </p:sp>
      <p:sp>
        <p:nvSpPr>
          <p:cNvPr id="10" name="Text 8"/>
          <p:cNvSpPr/>
          <p:nvPr/>
        </p:nvSpPr>
        <p:spPr>
          <a:xfrm>
            <a:off x="4615962" y="4224958"/>
            <a:ext cx="3048879" cy="224937"/>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14232E"/>
                </a:solidFill>
                <a:latin typeface="Inter" pitchFamily="34" charset="0"/>
                <a:ea typeface="Inter" pitchFamily="34" charset="-122"/>
                <a:cs typeface="Inter" pitchFamily="34" charset="-120"/>
              </a:rPr>
              <a:t>Price the invisible work first</a:t>
            </a:r>
            <a:endParaRPr lang="en-US" sz="1308" dirty="0"/>
          </a:p>
        </p:txBody>
      </p:sp>
      <p:sp>
        <p:nvSpPr>
          <p:cNvPr id="11" name="Text 9"/>
          <p:cNvSpPr/>
          <p:nvPr/>
        </p:nvSpPr>
        <p:spPr>
          <a:xfrm>
            <a:off x="4615962" y="4500687"/>
            <a:ext cx="3048879" cy="1144954"/>
          </a:xfrm>
          <a:prstGeom prst="rect">
            <a:avLst/>
          </a:prstGeom>
          <a:noFill/>
          <a:ln/>
        </p:spPr>
        <p:txBody>
          <a:bodyPr wrap="square" lIns="0" tIns="0" rIns="0" bIns="0" rtlCol="0" anchor="t">
            <a:normAutofit/>
          </a:bodyPr>
          <a:lstStyle/>
          <a:p>
            <a:pPr algn="l" indent="0" marL="0">
              <a:lnSpc>
                <a:spcPts val="1761"/>
              </a:lnSpc>
              <a:buNone/>
            </a:pPr>
            <a:r>
              <a:rPr lang="en-US" sz="1215" dirty="0">
                <a:solidFill>
                  <a:srgbClr val="5A6470"/>
                </a:solidFill>
                <a:latin typeface="Inter" pitchFamily="34" charset="0"/>
                <a:ea typeface="Inter" pitchFamily="34" charset="-122"/>
                <a:cs typeface="Inter" pitchFamily="34" charset="-120"/>
              </a:rPr>
              <a:t>Termite damage, rot under the floor, an unreinforced foundation, asbestos in old boards and a tank-based sewage system consume budget before anything looks better.</a:t>
            </a:r>
            <a:endParaRPr lang="en-US" sz="1215" dirty="0"/>
          </a:p>
        </p:txBody>
      </p:sp>
      <p:sp>
        <p:nvSpPr>
          <p:cNvPr id="12" name="Shape 10"/>
          <p:cNvSpPr/>
          <p:nvPr/>
        </p:nvSpPr>
        <p:spPr>
          <a:xfrm>
            <a:off x="7978775" y="4006366"/>
            <a:ext cx="3397250" cy="1832464"/>
          </a:xfrm>
          <a:prstGeom prst="roundRect">
            <a:avLst>
              <a:gd name="adj" fmla="val 3985"/>
            </a:avLst>
          </a:prstGeom>
          <a:solidFill>
            <a:srgbClr val="FFFFFF"/>
          </a:solidFill>
          <a:ln w="6350">
            <a:solidFill>
              <a:srgbClr val="DDD6C6"/>
            </a:solidFill>
            <a:prstDash val="solid"/>
          </a:ln>
        </p:spPr>
      </p:sp>
      <p:sp>
        <p:nvSpPr>
          <p:cNvPr id="13" name="Text 11"/>
          <p:cNvSpPr/>
          <p:nvPr/>
        </p:nvSpPr>
        <p:spPr>
          <a:xfrm>
            <a:off x="8197362" y="4224958"/>
            <a:ext cx="3048879" cy="224937"/>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14232E"/>
                </a:solidFill>
                <a:latin typeface="Inter" pitchFamily="34" charset="0"/>
                <a:ea typeface="Inter" pitchFamily="34" charset="-122"/>
                <a:cs typeface="Inter" pitchFamily="34" charset="-120"/>
              </a:rPr>
              <a:t>Check the grants</a:t>
            </a:r>
            <a:endParaRPr lang="en-US" sz="1308" dirty="0"/>
          </a:p>
        </p:txBody>
      </p:sp>
      <p:sp>
        <p:nvSpPr>
          <p:cNvPr id="14" name="Text 12"/>
          <p:cNvSpPr/>
          <p:nvPr/>
        </p:nvSpPr>
        <p:spPr>
          <a:xfrm>
            <a:off x="8197362" y="4500687"/>
            <a:ext cx="3048879" cy="1144954"/>
          </a:xfrm>
          <a:prstGeom prst="rect">
            <a:avLst/>
          </a:prstGeom>
          <a:noFill/>
          <a:ln/>
        </p:spPr>
        <p:txBody>
          <a:bodyPr wrap="square" lIns="0" tIns="0" rIns="0" bIns="0" rtlCol="0" anchor="t">
            <a:normAutofit/>
          </a:bodyPr>
          <a:lstStyle/>
          <a:p>
            <a:pPr algn="l" indent="0" marL="0">
              <a:lnSpc>
                <a:spcPts val="1844"/>
              </a:lnSpc>
              <a:buNone/>
            </a:pPr>
            <a:r>
              <a:rPr lang="en-US" sz="1272" dirty="0">
                <a:solidFill>
                  <a:srgbClr val="5A6470"/>
                </a:solidFill>
                <a:latin typeface="Inter" pitchFamily="34" charset="0"/>
                <a:ea typeface="Inter" pitchFamily="34" charset="-122"/>
                <a:cs typeface="Inter" pitchFamily="34" charset="-120"/>
              </a:rPr>
              <a:t>Many municipalities subsidise seismic work, insulation, vacant-house renovation and relocation. Most require application before work begins, so ask first.</a:t>
            </a:r>
            <a:endParaRPr lang="en-US" sz="1272" dirty="0"/>
          </a:p>
        </p:txBody>
      </p:sp>
      <p:sp>
        <p:nvSpPr>
          <p:cNvPr id="15" name="Text 13"/>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BE5D8"/>
        </a:solidFill>
      </p:bgPr>
    </p:bg>
    <p:spTree>
      <p:nvGrpSpPr>
        <p:cNvPr id="1" name=""/>
        <p:cNvGrpSpPr/>
        <p:nvPr/>
      </p:nvGrpSpPr>
      <p:grpSpPr>
        <a:xfrm>
          <a:off x="0" y="0"/>
          <a:ext cx="0" cy="0"/>
          <a:chOff x="0" y="0"/>
          <a:chExt cx="0" cy="0"/>
        </a:xfrm>
      </p:grpSpPr>
      <p:sp>
        <p:nvSpPr>
          <p:cNvPr id="2" name="Text 0"/>
          <p:cNvSpPr/>
          <p:nvPr/>
        </p:nvSpPr>
        <p:spPr>
          <a:xfrm>
            <a:off x="812800" y="812800"/>
            <a:ext cx="10883393" cy="412750"/>
          </a:xfrm>
          <a:prstGeom prst="rect">
            <a:avLst/>
          </a:prstGeom>
          <a:noFill/>
          <a:ln/>
        </p:spPr>
        <p:txBody>
          <a:bodyPr wrap="square" lIns="0" tIns="0" rIns="0" bIns="0" rtlCol="0" anchor="t">
            <a:normAutofit/>
          </a:bodyPr>
          <a:lstStyle/>
          <a:p>
            <a:pPr algn="l" indent="0" marL="0">
              <a:lnSpc>
                <a:spcPts val="3074"/>
              </a:lnSpc>
              <a:buNone/>
            </a:pPr>
            <a:r>
              <a:rPr lang="en-US" sz="2795" dirty="0">
                <a:solidFill>
                  <a:srgbClr val="14232E"/>
                </a:solidFill>
                <a:latin typeface="Source Serif 4" pitchFamily="34" charset="0"/>
                <a:ea typeface="Source Serif 4" pitchFamily="34" charset="-122"/>
                <a:cs typeface="Source Serif 4" pitchFamily="34" charset="-120"/>
              </a:rPr>
              <a:t>From offer to keys, in detail</a:t>
            </a:r>
            <a:endParaRPr lang="en-US" sz="279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28750"/>
          <a:ext cx="10566401" cy="4401527"/>
        </p:xfrm>
        <a:graphic>
          <a:graphicData uri="http://schemas.openxmlformats.org/drawingml/2006/table">
            <a:tbl>
              <a:tblPr/>
              <a:tblGrid>
                <a:gridCol w="5283200"/>
                <a:gridCol w="5283200"/>
              </a:tblGrid>
              <a:tr h="435677">
                <a:tc>
                  <a:txBody>
                    <a:bodyPr/>
                    <a:lstStyle/>
                    <a:p>
                      <a:pPr indent="0" marL="0">
                        <a:lnSpc>
                          <a:spcPts val="1520"/>
                        </a:lnSpc>
                        <a:buNone/>
                      </a:pPr>
                      <a:r>
                        <a:rPr lang="en-US" sz="1086" b="1" dirty="0">
                          <a:solidFill>
                            <a:srgbClr val="F6F2E9"/>
                          </a:solidFill>
                          <a:latin typeface="Inter" pitchFamily="34" charset="0"/>
                          <a:ea typeface="Inter" pitchFamily="34" charset="-122"/>
                          <a:cs typeface="Inter" pitchFamily="34" charset="-120"/>
                        </a:rPr>
                        <a:t>Stage</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DAD5CA"/>
                    </a:solidFill>
                  </a:tcPr>
                </a:tc>
                <a:tc>
                  <a:txBody>
                    <a:bodyPr/>
                    <a:lstStyle/>
                    <a:p>
                      <a:pPr indent="0" marL="0">
                        <a:lnSpc>
                          <a:spcPts val="1520"/>
                        </a:lnSpc>
                        <a:buNone/>
                      </a:pPr>
                      <a:r>
                        <a:rPr lang="en-US" sz="1086" b="1" dirty="0">
                          <a:solidFill>
                            <a:srgbClr val="F6F2E9"/>
                          </a:solidFill>
                          <a:latin typeface="Inter" pitchFamily="34" charset="0"/>
                          <a:ea typeface="Inter" pitchFamily="34" charset="-122"/>
                          <a:cs typeface="Inter" pitchFamily="34" charset="-120"/>
                        </a:rPr>
                        <a:t>What happens, and what you should be doing</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DAD5CA"/>
                    </a:solidFill>
                  </a:tcPr>
                </a:tc>
              </a:tr>
              <a:tr h="628772">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Letter of intent</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A written offer stating price, timing and conditions. Not binding, but it starts negotiation — attach your conditions here, not later.</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628772">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Disclosure</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The Important Matters Explanation is delivered and read to you by a licensed specialist. Demand it in advance and translated.</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821898">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Contract and deposit</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Both sides sign and you pay a deposit, commonly 5–10%. Until the other side begins performance you may walk away by forfeiting it; the seller withdraws by returning double.</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628803">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Loan application</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Formal application follows the contract. With a financing condition in the contract, a refusal releases you and returns the deposit — without one, it does not.</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628803">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Final inspection</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Walk the property again shortly before completion to confirm agreed clearance, removals and repairs have happened.</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628803">
                <a:tc>
                  <a:txBody>
                    <a:bodyPr/>
                    <a:lstStyle/>
                    <a:p>
                      <a:pPr indent="0" marL="0">
                        <a:lnSpc>
                          <a:spcPts val="1520"/>
                        </a:lnSpc>
                        <a:buNone/>
                      </a:pPr>
                      <a:r>
                        <a:rPr lang="en-US" sz="1086" dirty="0">
                          <a:solidFill>
                            <a:srgbClr val="14232E"/>
                          </a:solidFill>
                          <a:latin typeface="Inter" pitchFamily="34" charset="0"/>
                          <a:ea typeface="Inter" pitchFamily="34" charset="-122"/>
                          <a:cs typeface="Inter" pitchFamily="34" charset="-120"/>
                        </a:rPr>
                        <a:t>Settlement</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520"/>
                        </a:lnSpc>
                        <a:buNone/>
                      </a:pPr>
                      <a:r>
                        <a:rPr lang="en-US" sz="1086" dirty="0">
                          <a:solidFill>
                            <a:srgbClr val="5A6470"/>
                          </a:solidFill>
                          <a:latin typeface="Inter" pitchFamily="34" charset="0"/>
                          <a:ea typeface="Inter" pitchFamily="34" charset="-122"/>
                          <a:cs typeface="Inter" pitchFamily="34" charset="-120"/>
                        </a:rPr>
                        <a:t>Everyone meets at a bank. Balance is paid, existing mortgages are discharged, the judicial scrivener files the transfer and you receive the keys.</a:t>
                      </a:r>
                      <a:endParaRPr lang="en-US" sz="1086" dirty="0">
                        <a:latin typeface="Inter" charset="0"/>
                        <a:ea typeface="Inter" charset="0"/>
                        <a:cs typeface="Inter" charset="0"/>
                      </a:endParaRPr>
                    </a:p>
                  </a:txBody>
                  <a:tcPr marL="127000" marR="127000" marT="114300" marB="11430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bl>
          </a:graphicData>
        </a:graphic>
      </p:graphicFrame>
      <p:sp>
        <p:nvSpPr>
          <p:cNvPr id="4" name="Text 1"/>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The four clauses that decide who carries the risk</a:t>
            </a:r>
            <a:endParaRPr lang="en-US" sz="3300" dirty="0"/>
          </a:p>
        </p:txBody>
      </p:sp>
      <p:sp>
        <p:nvSpPr>
          <p:cNvPr id="3" name="Shape 1"/>
          <p:cNvSpPr/>
          <p:nvPr/>
        </p:nvSpPr>
        <p:spPr>
          <a:xfrm>
            <a:off x="815975" y="1530970"/>
            <a:ext cx="5181600" cy="1735015"/>
          </a:xfrm>
          <a:prstGeom prst="roundRect">
            <a:avLst>
              <a:gd name="adj" fmla="val 4209"/>
            </a:avLst>
          </a:prstGeom>
          <a:solidFill>
            <a:srgbClr val="FFFFFF"/>
          </a:solidFill>
          <a:ln w="6350">
            <a:solidFill>
              <a:srgbClr val="DDD6C6"/>
            </a:solidFill>
            <a:prstDash val="solid"/>
          </a:ln>
        </p:spPr>
      </p:sp>
      <p:sp>
        <p:nvSpPr>
          <p:cNvPr id="4" name="Text 2"/>
          <p:cNvSpPr/>
          <p:nvPr/>
        </p:nvSpPr>
        <p:spPr>
          <a:xfrm>
            <a:off x="1059962" y="1774949"/>
            <a:ext cx="483443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Financing condition</a:t>
            </a:r>
            <a:endParaRPr lang="en-US" sz="1400" dirty="0"/>
          </a:p>
        </p:txBody>
      </p:sp>
      <p:sp>
        <p:nvSpPr>
          <p:cNvPr id="5" name="Text 3"/>
          <p:cNvSpPr/>
          <p:nvPr/>
        </p:nvSpPr>
        <p:spPr>
          <a:xfrm>
            <a:off x="1059962" y="2064494"/>
            <a:ext cx="4834436"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If the loan is refused by a stated date, the contract ends and your deposit is returned. Without it, a refusal costs you the deposit. Non-negotiable if you are borrowing.</a:t>
            </a:r>
            <a:endParaRPr lang="en-US" sz="1300" dirty="0"/>
          </a:p>
        </p:txBody>
      </p:sp>
      <p:sp>
        <p:nvSpPr>
          <p:cNvPr id="6" name="Shape 4"/>
          <p:cNvSpPr/>
          <p:nvPr/>
        </p:nvSpPr>
        <p:spPr>
          <a:xfrm>
            <a:off x="6194425" y="1530970"/>
            <a:ext cx="5181600" cy="1735015"/>
          </a:xfrm>
          <a:prstGeom prst="roundRect">
            <a:avLst>
              <a:gd name="adj" fmla="val 4209"/>
            </a:avLst>
          </a:prstGeom>
          <a:solidFill>
            <a:srgbClr val="FFFFFF"/>
          </a:solidFill>
          <a:ln w="6350">
            <a:solidFill>
              <a:srgbClr val="DDD6C6"/>
            </a:solidFill>
            <a:prstDash val="solid"/>
          </a:ln>
        </p:spPr>
      </p:sp>
      <p:sp>
        <p:nvSpPr>
          <p:cNvPr id="7" name="Text 5"/>
          <p:cNvSpPr/>
          <p:nvPr/>
        </p:nvSpPr>
        <p:spPr>
          <a:xfrm>
            <a:off x="6438412" y="1774949"/>
            <a:ext cx="483443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Liability for non-conformity</a:t>
            </a:r>
            <a:endParaRPr lang="en-US" sz="1400" dirty="0"/>
          </a:p>
        </p:txBody>
      </p:sp>
      <p:sp>
        <p:nvSpPr>
          <p:cNvPr id="8" name="Text 6"/>
          <p:cNvSpPr/>
          <p:nvPr/>
        </p:nvSpPr>
        <p:spPr>
          <a:xfrm>
            <a:off x="6438412" y="2064494"/>
            <a:ext cx="4834436"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The seller's responsibility if the property does not match what was contracted. Private sellers of old houses routinely exclude it entirely or cap it at a few months — read the exact wording and price accordingly.</a:t>
            </a:r>
            <a:endParaRPr lang="en-US" sz="1300" dirty="0"/>
          </a:p>
        </p:txBody>
      </p:sp>
      <p:sp>
        <p:nvSpPr>
          <p:cNvPr id="9" name="Shape 7"/>
          <p:cNvSpPr/>
          <p:nvPr/>
        </p:nvSpPr>
        <p:spPr>
          <a:xfrm>
            <a:off x="815975" y="3462834"/>
            <a:ext cx="5181600" cy="1495639"/>
          </a:xfrm>
          <a:prstGeom prst="roundRect">
            <a:avLst>
              <a:gd name="adj" fmla="val 4883"/>
            </a:avLst>
          </a:prstGeom>
          <a:solidFill>
            <a:srgbClr val="FFFFFF"/>
          </a:solidFill>
          <a:ln w="6350">
            <a:solidFill>
              <a:srgbClr val="DDD6C6"/>
            </a:solidFill>
            <a:prstDash val="solid"/>
          </a:ln>
        </p:spPr>
      </p:sp>
      <p:sp>
        <p:nvSpPr>
          <p:cNvPr id="10" name="Text 8"/>
          <p:cNvSpPr/>
          <p:nvPr/>
        </p:nvSpPr>
        <p:spPr>
          <a:xfrm>
            <a:off x="1059962" y="3706813"/>
            <a:ext cx="483443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Condition at handover</a:t>
            </a:r>
            <a:endParaRPr lang="en-US" sz="1400" dirty="0"/>
          </a:p>
        </p:txBody>
      </p:sp>
      <p:sp>
        <p:nvSpPr>
          <p:cNvPr id="11" name="Text 9"/>
          <p:cNvSpPr/>
          <p:nvPr/>
        </p:nvSpPr>
        <p:spPr>
          <a:xfrm>
            <a:off x="1059962" y="3996358"/>
            <a:ext cx="4834436"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Who clears the contents, removes the outbuilding, fells the tree, fixes the leak. Write each item into the contract with a date. Verbal promises evaporate at settlement.</a:t>
            </a:r>
            <a:endParaRPr lang="en-US" sz="1300" dirty="0"/>
          </a:p>
        </p:txBody>
      </p:sp>
      <p:sp>
        <p:nvSpPr>
          <p:cNvPr id="12" name="Shape 10"/>
          <p:cNvSpPr/>
          <p:nvPr/>
        </p:nvSpPr>
        <p:spPr>
          <a:xfrm>
            <a:off x="6194425" y="3462834"/>
            <a:ext cx="5181600" cy="1495639"/>
          </a:xfrm>
          <a:prstGeom prst="roundRect">
            <a:avLst>
              <a:gd name="adj" fmla="val 4883"/>
            </a:avLst>
          </a:prstGeom>
          <a:solidFill>
            <a:srgbClr val="FFFFFF"/>
          </a:solidFill>
          <a:ln w="6350">
            <a:solidFill>
              <a:srgbClr val="DDD6C6"/>
            </a:solidFill>
            <a:prstDash val="solid"/>
          </a:ln>
        </p:spPr>
      </p:sp>
      <p:sp>
        <p:nvSpPr>
          <p:cNvPr id="13" name="Text 11"/>
          <p:cNvSpPr/>
          <p:nvPr/>
        </p:nvSpPr>
        <p:spPr>
          <a:xfrm>
            <a:off x="6438412" y="3706813"/>
            <a:ext cx="4834436"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Boundary and area</a:t>
            </a:r>
            <a:endParaRPr lang="en-US" sz="1400" dirty="0"/>
          </a:p>
        </p:txBody>
      </p:sp>
      <p:sp>
        <p:nvSpPr>
          <p:cNvPr id="14" name="Text 12"/>
          <p:cNvSpPr/>
          <p:nvPr/>
        </p:nvSpPr>
        <p:spPr>
          <a:xfrm>
            <a:off x="6438412" y="3996358"/>
            <a:ext cx="4834436"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Whether the seller delivers a confirmed boundary survey, and whether the price adjusts if the surveyed area differs from the registered area.</a:t>
            </a:r>
            <a:endParaRPr lang="en-US" sz="1300" dirty="0"/>
          </a:p>
        </p:txBody>
      </p:sp>
      <p:sp>
        <p:nvSpPr>
          <p:cNvPr id="15" name="Text 13"/>
          <p:cNvSpPr/>
          <p:nvPr/>
        </p:nvSpPr>
        <p:spPr>
          <a:xfrm>
            <a:off x="812800" y="5215644"/>
            <a:ext cx="10203180" cy="50415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A note on protection: stronger consumer safeguards apply when the seller is a licensed property company. When the seller is a private individual — which is most akiya — you are largely on your own contractual terms.</a:t>
            </a:r>
            <a:endParaRPr lang="en-US" sz="1300" dirty="0"/>
          </a:p>
        </p:txBody>
      </p:sp>
      <p:sp>
        <p:nvSpPr>
          <p:cNvPr id="16" name="Text 14"/>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4578350" cy="90170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F6F2E9"/>
                </a:solidFill>
                <a:latin typeface="Source Serif 4" pitchFamily="34" charset="0"/>
                <a:ea typeface="Source Serif 4" pitchFamily="34" charset="-122"/>
                <a:cs typeface="Source Serif 4" pitchFamily="34" charset="-120"/>
              </a:rPr>
              <a:t>Inspect before contract, not after</a:t>
            </a:r>
            <a:endParaRPr lang="en-US" sz="3000" dirty="0"/>
          </a:p>
        </p:txBody>
      </p:sp>
      <p:sp>
        <p:nvSpPr>
          <p:cNvPr id="3" name="Text 1"/>
          <p:cNvSpPr/>
          <p:nvPr/>
        </p:nvSpPr>
        <p:spPr>
          <a:xfrm>
            <a:off x="812800" y="1866900"/>
            <a:ext cx="457835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Agents must tell you whether a building condition survey has been carried out and offer to arrange one. Very few buyers take it up. On a second-hand house it is the cheapest insurance you will ever buy.</a:t>
            </a:r>
            <a:endParaRPr lang="en-US" sz="1300" dirty="0"/>
          </a:p>
        </p:txBody>
      </p:sp>
      <p:sp>
        <p:nvSpPr>
          <p:cNvPr id="4" name="Text 2"/>
          <p:cNvSpPr/>
          <p:nvPr/>
        </p:nvSpPr>
        <p:spPr>
          <a:xfrm>
            <a:off x="812800" y="3035300"/>
            <a:ext cx="457835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9B7C0"/>
                </a:solidFill>
                <a:latin typeface="Inter" pitchFamily="34" charset="0"/>
                <a:ea typeface="Inter" pitchFamily="34" charset="-122"/>
                <a:cs typeface="Inter" pitchFamily="34" charset="-120"/>
              </a:rPr>
              <a:t>A standard survey is visual and non-destructive: it looks for structural cracks, tilt, water ingress and decay in accessible areas. It does not open walls, and it is not a guarantee.</a:t>
            </a:r>
            <a:endParaRPr lang="en-US" sz="1300" dirty="0"/>
          </a:p>
        </p:txBody>
      </p:sp>
      <p:sp>
        <p:nvSpPr>
          <p:cNvPr id="5" name="Shape 3"/>
          <p:cNvSpPr/>
          <p:nvPr/>
        </p:nvSpPr>
        <p:spPr>
          <a:xfrm>
            <a:off x="812800" y="3956050"/>
            <a:ext cx="4445000" cy="1099130"/>
          </a:xfrm>
          <a:prstGeom prst="roundRect">
            <a:avLst>
              <a:gd name="adj" fmla="val 6933"/>
            </a:avLst>
          </a:prstGeom>
          <a:solidFill>
            <a:srgbClr val="1D3040"/>
          </a:solidFill>
          <a:ln/>
        </p:spPr>
      </p:sp>
      <p:sp>
        <p:nvSpPr>
          <p:cNvPr id="6" name="Text 4"/>
          <p:cNvSpPr/>
          <p:nvPr/>
        </p:nvSpPr>
        <p:spPr>
          <a:xfrm>
            <a:off x="1003300" y="4146550"/>
            <a:ext cx="4185920"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Where a building qualifies, a defect insurance policy for existing homes can be arranged — and the same qualification often unlocks buyer tax reliefs.</a:t>
            </a:r>
            <a:endParaRPr lang="en-US" sz="1300" dirty="0"/>
          </a:p>
        </p:txBody>
      </p:sp>
      <p:sp>
        <p:nvSpPr>
          <p:cNvPr id="7" name="Shape 5"/>
          <p:cNvSpPr/>
          <p:nvPr/>
        </p:nvSpPr>
        <p:spPr>
          <a:xfrm>
            <a:off x="5715000" y="812800"/>
            <a:ext cx="5664200" cy="5029200"/>
          </a:xfrm>
          <a:prstGeom prst="roundRect">
            <a:avLst>
              <a:gd name="adj" fmla="val 1515"/>
            </a:avLst>
          </a:prstGeom>
          <a:solidFill>
            <a:srgbClr val="1D3040"/>
          </a:solidFill>
          <a:ln/>
        </p:spPr>
      </p:sp>
      <p:sp>
        <p:nvSpPr>
          <p:cNvPr id="8" name="Text 6"/>
          <p:cNvSpPr/>
          <p:nvPr/>
        </p:nvSpPr>
        <p:spPr>
          <a:xfrm>
            <a:off x="5994400" y="1092200"/>
            <a:ext cx="52585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2906B"/>
                </a:solidFill>
                <a:latin typeface="Inter" pitchFamily="34" charset="0"/>
                <a:ea typeface="Inter" pitchFamily="34" charset="-122"/>
                <a:cs typeface="Inter" pitchFamily="34" charset="-120"/>
              </a:rPr>
              <a:t>Ask the surveyor to look at</a:t>
            </a:r>
            <a:endParaRPr lang="en-US" sz="1500" dirty="0"/>
          </a:p>
        </p:txBody>
      </p:sp>
      <p:sp>
        <p:nvSpPr>
          <p:cNvPr id="9" name="Text 7"/>
          <p:cNvSpPr/>
          <p:nvPr/>
        </p:nvSpPr>
        <p:spPr>
          <a:xfrm>
            <a:off x="5994400" y="1422400"/>
            <a:ext cx="5258562" cy="2270614"/>
          </a:xfrm>
          <a:prstGeom prst="rect">
            <a:avLst/>
          </a:prstGeom>
          <a:noFill/>
          <a:ln/>
        </p:spPr>
        <p:txBody>
          <a:bodyPr wrap="square" lIns="0" tIns="0" rIns="0" bIns="0" rtlCol="0" anchor="t">
            <a:normAutofit/>
          </a:bodyPr>
          <a:lstStyle/>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Foundation cracks and whether it is reinforced</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Floor level and any lean in the frame</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Termite damage under the floor and at the sills</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Roof covering, ridge, valleys and ceiling stains</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Electrical capacity and the age of the wiring</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Water supply pipes, drainage and any septic tank</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Damp, ventilation and mould in the underfloor space</a:t>
            </a:r>
            <a:endParaRPr lang="en-US" sz="1300" dirty="0"/>
          </a:p>
          <a:p>
            <a:pPr algn="l" marL="342900" indent="-342900">
              <a:lnSpc>
                <a:spcPts val="2210"/>
              </a:lnSpc>
              <a:buSzPct val="100000"/>
              <a:buChar char="•"/>
            </a:pPr>
            <a:r>
              <a:rPr lang="en-US" sz="1300" dirty="0">
                <a:solidFill>
                  <a:srgbClr val="A9B7C0"/>
                </a:solidFill>
                <a:latin typeface="Inter" pitchFamily="34" charset="0"/>
                <a:ea typeface="Inter" pitchFamily="34" charset="-122"/>
                <a:cs typeface="Inter" pitchFamily="34" charset="-120"/>
              </a:rPr>
              <a:t>Whether extensions were ever permitted</a:t>
            </a:r>
            <a:endParaRPr lang="en-US" sz="1300" dirty="0"/>
          </a:p>
        </p:txBody>
      </p:sp>
      <p:sp>
        <p:nvSpPr>
          <p:cNvPr id="10" name="Text 8"/>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7A3"/>
                </a:solidFill>
                <a:latin typeface="Inter" pitchFamily="34" charset="0"/>
                <a:ea typeface="Inter" pitchFamily="34" charset="-122"/>
                <a:cs typeface="Inter" pitchFamily="34" charset="-120"/>
              </a:rPr>
              <a:t>YAMA-VISTA  ·  japancheaphouses.com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Settlement day, and what you need in hand</a:t>
            </a:r>
            <a:endParaRPr lang="en-US" sz="3300" dirty="0"/>
          </a:p>
        </p:txBody>
      </p:sp>
      <p:sp>
        <p:nvSpPr>
          <p:cNvPr id="3" name="Text 1"/>
          <p:cNvSpPr/>
          <p:nvPr/>
        </p:nvSpPr>
        <p:spPr>
          <a:xfrm>
            <a:off x="812800" y="1527795"/>
            <a:ext cx="10203180" cy="54097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6470"/>
                </a:solidFill>
                <a:latin typeface="Inter" pitchFamily="34" charset="0"/>
                <a:ea typeface="Inter" pitchFamily="34" charset="-122"/>
                <a:cs typeface="Inter" pitchFamily="34" charset="-120"/>
              </a:rPr>
              <a:t>Everything completes in a single meeting, usually at the buyer's bank, usually within a couple of hours. The judicial scrivener checks identities and documents, the money moves, and only then is the transfer filed.</a:t>
            </a:r>
            <a:endParaRPr lang="en-US" sz="1400" dirty="0"/>
          </a:p>
        </p:txBody>
      </p:sp>
      <p:sp>
        <p:nvSpPr>
          <p:cNvPr id="4" name="Shape 2"/>
          <p:cNvSpPr/>
          <p:nvPr/>
        </p:nvSpPr>
        <p:spPr>
          <a:xfrm>
            <a:off x="815975" y="2300536"/>
            <a:ext cx="3397250" cy="2969480"/>
          </a:xfrm>
          <a:prstGeom prst="roundRect">
            <a:avLst>
              <a:gd name="adj" fmla="val 2459"/>
            </a:avLst>
          </a:prstGeom>
          <a:solidFill>
            <a:srgbClr val="FFFFFF"/>
          </a:solidFill>
          <a:ln w="6350">
            <a:solidFill>
              <a:srgbClr val="DDD6C6"/>
            </a:solidFill>
            <a:prstDash val="solid"/>
          </a:ln>
        </p:spPr>
      </p:sp>
      <p:sp>
        <p:nvSpPr>
          <p:cNvPr id="5" name="Text 3"/>
          <p:cNvSpPr/>
          <p:nvPr/>
        </p:nvSpPr>
        <p:spPr>
          <a:xfrm>
            <a:off x="1059962" y="2544527"/>
            <a:ext cx="299655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Bring</a:t>
            </a:r>
            <a:endParaRPr lang="en-US" sz="1400" dirty="0"/>
          </a:p>
        </p:txBody>
      </p:sp>
      <p:sp>
        <p:nvSpPr>
          <p:cNvPr id="6" name="Text 4"/>
          <p:cNvSpPr/>
          <p:nvPr/>
        </p:nvSpPr>
        <p:spPr>
          <a:xfrm>
            <a:off x="1059962" y="2846760"/>
            <a:ext cx="2996555" cy="2204671"/>
          </a:xfrm>
          <a:prstGeom prst="rect">
            <a:avLst/>
          </a:prstGeom>
          <a:noFill/>
          <a:ln/>
        </p:spPr>
        <p:txBody>
          <a:bodyPr wrap="square" lIns="0" tIns="0" rIns="0" bIns="0" rtlCol="0" anchor="t">
            <a:normAutofit/>
          </a:bodyPr>
          <a:lstStyle/>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Identity documents and residence card or passport</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Personal seal, and a seal certificate if registered</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Proof of address for the registration filing</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Cleared funds in a Japanese account</a:t>
            </a:r>
            <a:endParaRPr lang="en-US" sz="1300" dirty="0"/>
          </a:p>
        </p:txBody>
      </p:sp>
      <p:sp>
        <p:nvSpPr>
          <p:cNvPr id="7" name="Shape 5"/>
          <p:cNvSpPr/>
          <p:nvPr/>
        </p:nvSpPr>
        <p:spPr>
          <a:xfrm>
            <a:off x="4397375" y="2300536"/>
            <a:ext cx="3397250" cy="2969480"/>
          </a:xfrm>
          <a:prstGeom prst="roundRect">
            <a:avLst>
              <a:gd name="adj" fmla="val 2459"/>
            </a:avLst>
          </a:prstGeom>
          <a:solidFill>
            <a:srgbClr val="FFFFFF"/>
          </a:solidFill>
          <a:ln w="6350">
            <a:solidFill>
              <a:srgbClr val="DDD6C6"/>
            </a:solidFill>
            <a:prstDash val="solid"/>
          </a:ln>
        </p:spPr>
      </p:sp>
      <p:sp>
        <p:nvSpPr>
          <p:cNvPr id="8" name="Text 6"/>
          <p:cNvSpPr/>
          <p:nvPr/>
        </p:nvSpPr>
        <p:spPr>
          <a:xfrm>
            <a:off x="4641362" y="2544527"/>
            <a:ext cx="299655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If you live abroad</a:t>
            </a:r>
            <a:endParaRPr lang="en-US" sz="1400" dirty="0"/>
          </a:p>
        </p:txBody>
      </p:sp>
      <p:sp>
        <p:nvSpPr>
          <p:cNvPr id="9" name="Text 7"/>
          <p:cNvSpPr/>
          <p:nvPr/>
        </p:nvSpPr>
        <p:spPr>
          <a:xfrm>
            <a:off x="4641362" y="2846760"/>
            <a:ext cx="2996555" cy="2204671"/>
          </a:xfrm>
          <a:prstGeom prst="rect">
            <a:avLst/>
          </a:prstGeom>
          <a:noFill/>
          <a:ln/>
        </p:spPr>
        <p:txBody>
          <a:bodyPr wrap="square" lIns="0" tIns="0" rIns="0" bIns="0" rtlCol="0" anchor="t">
            <a:normAutofit/>
          </a:bodyPr>
          <a:lstStyle/>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An affidavit from your embassy or a notary in place of the seal certificate</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A tax agent appointed to receive Japanese tax notices</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A power of attorney if you cannot attend in person</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Transfer timing planned around currency and cut-off times</a:t>
            </a:r>
            <a:endParaRPr lang="en-US" sz="1300" dirty="0"/>
          </a:p>
        </p:txBody>
      </p:sp>
      <p:sp>
        <p:nvSpPr>
          <p:cNvPr id="10" name="Shape 8"/>
          <p:cNvSpPr/>
          <p:nvPr/>
        </p:nvSpPr>
        <p:spPr>
          <a:xfrm>
            <a:off x="7978775" y="2300536"/>
            <a:ext cx="3397250" cy="2969480"/>
          </a:xfrm>
          <a:prstGeom prst="roundRect">
            <a:avLst>
              <a:gd name="adj" fmla="val 2459"/>
            </a:avLst>
          </a:prstGeom>
          <a:solidFill>
            <a:srgbClr val="FFFFFF"/>
          </a:solidFill>
          <a:ln w="6350">
            <a:solidFill>
              <a:srgbClr val="DDD6C6"/>
            </a:solidFill>
            <a:prstDash val="solid"/>
          </a:ln>
        </p:spPr>
      </p:sp>
      <p:sp>
        <p:nvSpPr>
          <p:cNvPr id="11" name="Text 9"/>
          <p:cNvSpPr/>
          <p:nvPr/>
        </p:nvSpPr>
        <p:spPr>
          <a:xfrm>
            <a:off x="8222762" y="2544527"/>
            <a:ext cx="2996555"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Leave with</a:t>
            </a:r>
            <a:endParaRPr lang="en-US" sz="1400" dirty="0"/>
          </a:p>
        </p:txBody>
      </p:sp>
      <p:sp>
        <p:nvSpPr>
          <p:cNvPr id="12" name="Text 10"/>
          <p:cNvSpPr/>
          <p:nvPr/>
        </p:nvSpPr>
        <p:spPr>
          <a:xfrm>
            <a:off x="8222762" y="2846760"/>
            <a:ext cx="2996555" cy="1932262"/>
          </a:xfrm>
          <a:prstGeom prst="rect">
            <a:avLst/>
          </a:prstGeom>
          <a:noFill/>
          <a:ln/>
        </p:spPr>
        <p:txBody>
          <a:bodyPr wrap="square" lIns="0" tIns="0" rIns="0" bIns="0" rtlCol="0" anchor="t">
            <a:normAutofit/>
          </a:bodyPr>
          <a:lstStyle/>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Keys and any building documents</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Receipt for the balance and settled adjustments</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Confirmation the transfer has been filed</a:t>
            </a:r>
            <a:endParaRPr lang="en-US" sz="1300" dirty="0"/>
          </a:p>
          <a:p>
            <a:pPr algn="l" marL="342900" indent="-342900">
              <a:lnSpc>
                <a:spcPts val="2145"/>
              </a:lnSpc>
              <a:buSzPct val="100000"/>
              <a:buChar char="•"/>
            </a:pPr>
            <a:r>
              <a:rPr lang="en-US" sz="1300" dirty="0">
                <a:solidFill>
                  <a:srgbClr val="5A6470"/>
                </a:solidFill>
                <a:latin typeface="Inter" pitchFamily="34" charset="0"/>
                <a:ea typeface="Inter" pitchFamily="34" charset="-122"/>
                <a:cs typeface="Inter" pitchFamily="34" charset="-120"/>
              </a:rPr>
              <a:t>Utility transfer details and the insurance start date</a:t>
            </a:r>
            <a:endParaRPr lang="en-US" sz="1300" dirty="0"/>
          </a:p>
        </p:txBody>
      </p:sp>
      <p:sp>
        <p:nvSpPr>
          <p:cNvPr id="13" name="Text 11"/>
          <p:cNvSpPr/>
          <p:nvPr/>
        </p:nvSpPr>
        <p:spPr>
          <a:xfrm>
            <a:off x="812800" y="6238267"/>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BE5D8"/>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14232E"/>
                </a:solidFill>
                <a:latin typeface="Source Serif 4" pitchFamily="34" charset="0"/>
                <a:ea typeface="Source Serif 4" pitchFamily="34" charset="-122"/>
                <a:cs typeface="Source Serif 4" pitchFamily="34" charset="-120"/>
              </a:rPr>
              <a:t>Living in it, letting it, or letting it nightly</a:t>
            </a:r>
            <a:endParaRPr lang="en-US" sz="3300" dirty="0"/>
          </a:p>
        </p:txBody>
      </p:sp>
      <p:sp>
        <p:nvSpPr>
          <p:cNvPr id="3" name="Shape 1"/>
          <p:cNvSpPr/>
          <p:nvPr/>
        </p:nvSpPr>
        <p:spPr>
          <a:xfrm>
            <a:off x="812800" y="1527783"/>
            <a:ext cx="3403600" cy="3282767"/>
          </a:xfrm>
          <a:prstGeom prst="roundRect">
            <a:avLst>
              <a:gd name="adj" fmla="val 2321"/>
            </a:avLst>
          </a:prstGeom>
          <a:solidFill>
            <a:srgbClr val="FFFFFF"/>
          </a:solidFill>
          <a:ln/>
        </p:spPr>
      </p:sp>
      <p:sp>
        <p:nvSpPr>
          <p:cNvPr id="4" name="Text 2"/>
          <p:cNvSpPr/>
          <p:nvPr/>
        </p:nvSpPr>
        <p:spPr>
          <a:xfrm>
            <a:off x="1054100" y="1769083"/>
            <a:ext cx="30086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E7161"/>
                </a:solidFill>
                <a:latin typeface="Inter" pitchFamily="34" charset="0"/>
                <a:ea typeface="Inter" pitchFamily="34" charset="-122"/>
                <a:cs typeface="Inter" pitchFamily="34" charset="-120"/>
              </a:rPr>
              <a:t>Live in it</a:t>
            </a:r>
            <a:endParaRPr lang="en-US" sz="1500" dirty="0"/>
          </a:p>
        </p:txBody>
      </p:sp>
      <p:sp>
        <p:nvSpPr>
          <p:cNvPr id="5" name="Text 3"/>
          <p:cNvSpPr/>
          <p:nvPr/>
        </p:nvSpPr>
        <p:spPr>
          <a:xfrm>
            <a:off x="1054100" y="2086583"/>
            <a:ext cx="3008630" cy="146166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The simplest path, and the one the tax system rewards. Owner-occupier reliefs on registration, acquisition tax and — where a loan and the property both qualify — an income tax deduction on the mortgage.</a:t>
            </a:r>
            <a:endParaRPr lang="en-US" sz="1300" dirty="0"/>
          </a:p>
        </p:txBody>
      </p:sp>
      <p:sp>
        <p:nvSpPr>
          <p:cNvPr id="6" name="Text 4"/>
          <p:cNvSpPr/>
          <p:nvPr/>
        </p:nvSpPr>
        <p:spPr>
          <a:xfrm>
            <a:off x="1054100" y="3611736"/>
            <a:ext cx="3008630"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Reliefs generally require a minimum floor area and, for older houses, evidence they meet the current seismic standard.</a:t>
            </a:r>
            <a:endParaRPr lang="en-US" sz="1300" dirty="0"/>
          </a:p>
        </p:txBody>
      </p:sp>
      <p:sp>
        <p:nvSpPr>
          <p:cNvPr id="7" name="Shape 5"/>
          <p:cNvSpPr/>
          <p:nvPr/>
        </p:nvSpPr>
        <p:spPr>
          <a:xfrm>
            <a:off x="4394200" y="1527783"/>
            <a:ext cx="3403600" cy="3282767"/>
          </a:xfrm>
          <a:prstGeom prst="roundRect">
            <a:avLst>
              <a:gd name="adj" fmla="val 2321"/>
            </a:avLst>
          </a:prstGeom>
          <a:solidFill>
            <a:srgbClr val="FFFFFF"/>
          </a:solidFill>
          <a:ln/>
        </p:spPr>
      </p:sp>
      <p:sp>
        <p:nvSpPr>
          <p:cNvPr id="8" name="Text 6"/>
          <p:cNvSpPr/>
          <p:nvPr/>
        </p:nvSpPr>
        <p:spPr>
          <a:xfrm>
            <a:off x="4635500" y="1769083"/>
            <a:ext cx="30086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E7161"/>
                </a:solidFill>
                <a:latin typeface="Inter" pitchFamily="34" charset="0"/>
                <a:ea typeface="Inter" pitchFamily="34" charset="-122"/>
                <a:cs typeface="Inter" pitchFamily="34" charset="-120"/>
              </a:rPr>
              <a:t>Rent it long term</a:t>
            </a:r>
            <a:endParaRPr lang="en-US" sz="1500" dirty="0"/>
          </a:p>
        </p:txBody>
      </p:sp>
      <p:sp>
        <p:nvSpPr>
          <p:cNvPr id="9" name="Text 7"/>
          <p:cNvSpPr/>
          <p:nvPr/>
        </p:nvSpPr>
        <p:spPr>
          <a:xfrm>
            <a:off x="4635500" y="2086583"/>
            <a:ext cx="3008630"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Standard residential tenancies strongly favour the tenant and are hard to end. Fixed-term contracts exist and behave differently — decide which you are signing.</a:t>
            </a:r>
            <a:endParaRPr lang="en-US" sz="1300" dirty="0"/>
          </a:p>
        </p:txBody>
      </p:sp>
      <p:sp>
        <p:nvSpPr>
          <p:cNvPr id="10" name="Text 8"/>
          <p:cNvSpPr/>
          <p:nvPr/>
        </p:nvSpPr>
        <p:spPr>
          <a:xfrm>
            <a:off x="4635500" y="3372358"/>
            <a:ext cx="3008630"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Rental income is taxable in Japan, and non-resident landlords face withholding on rent in some circumstances. Budget for an accountant.</a:t>
            </a:r>
            <a:endParaRPr lang="en-US" sz="1300" dirty="0"/>
          </a:p>
        </p:txBody>
      </p:sp>
      <p:sp>
        <p:nvSpPr>
          <p:cNvPr id="11" name="Shape 9"/>
          <p:cNvSpPr/>
          <p:nvPr/>
        </p:nvSpPr>
        <p:spPr>
          <a:xfrm>
            <a:off x="7975600" y="1527783"/>
            <a:ext cx="3403600" cy="3282767"/>
          </a:xfrm>
          <a:prstGeom prst="roundRect">
            <a:avLst>
              <a:gd name="adj" fmla="val 2321"/>
            </a:avLst>
          </a:prstGeom>
          <a:solidFill>
            <a:srgbClr val="FFFFFF"/>
          </a:solidFill>
          <a:ln/>
        </p:spPr>
      </p:sp>
      <p:sp>
        <p:nvSpPr>
          <p:cNvPr id="12" name="Text 10"/>
          <p:cNvSpPr/>
          <p:nvPr/>
        </p:nvSpPr>
        <p:spPr>
          <a:xfrm>
            <a:off x="8216900" y="1769083"/>
            <a:ext cx="30086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E7161"/>
                </a:solidFill>
                <a:latin typeface="Inter" pitchFamily="34" charset="0"/>
                <a:ea typeface="Inter" pitchFamily="34" charset="-122"/>
                <a:cs typeface="Inter" pitchFamily="34" charset="-120"/>
              </a:rPr>
              <a:t>Short-term letting</a:t>
            </a:r>
            <a:endParaRPr lang="en-US" sz="1500" dirty="0"/>
          </a:p>
        </p:txBody>
      </p:sp>
      <p:sp>
        <p:nvSpPr>
          <p:cNvPr id="13" name="Text 11"/>
          <p:cNvSpPr/>
          <p:nvPr/>
        </p:nvSpPr>
        <p:spPr>
          <a:xfrm>
            <a:off x="8216900" y="2086583"/>
            <a:ext cx="3008630"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Under the national home-sharing law you notify the authorities and are capped at </a:t>
            </a:r>
            <a:r>
              <a:rPr lang="en-US" sz="1300" b="1" dirty="0">
                <a:solidFill>
                  <a:srgbClr val="5A6470"/>
                </a:solidFill>
                <a:latin typeface="Inter" pitchFamily="34" charset="0"/>
                <a:ea typeface="Inter" pitchFamily="34" charset="-122"/>
                <a:cs typeface="Inter" pitchFamily="34" charset="-120"/>
              </a:rPr>
              <a:t>180 nights a year</a:t>
            </a:r>
            <a:r>
              <a:rPr lang="en-US" sz="1300" dirty="0">
                <a:solidFill>
                  <a:srgbClr val="5A6470"/>
                </a:solidFill>
                <a:latin typeface="Inter" pitchFamily="34" charset="0"/>
                <a:ea typeface="Inter" pitchFamily="34" charset="-122"/>
                <a:cs typeface="Inter" pitchFamily="34" charset="-120"/>
              </a:rPr>
              <a:t>. Local ordinances often cut that further or restrict seasons and districts.</a:t>
            </a:r>
            <a:endParaRPr lang="en-US" sz="1300" dirty="0"/>
          </a:p>
        </p:txBody>
      </p:sp>
      <p:sp>
        <p:nvSpPr>
          <p:cNvPr id="14" name="Text 12"/>
          <p:cNvSpPr/>
          <p:nvPr/>
        </p:nvSpPr>
        <p:spPr>
          <a:xfrm>
            <a:off x="8216900" y="3372358"/>
            <a:ext cx="3008630"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Operating without the cap means a hotel or inn licence, which brings fire-safety and building requirements an old house may not meet.</a:t>
            </a:r>
            <a:endParaRPr lang="en-US" sz="1300" dirty="0"/>
          </a:p>
        </p:txBody>
      </p:sp>
      <p:sp>
        <p:nvSpPr>
          <p:cNvPr id="15" name="Text 13"/>
          <p:cNvSpPr/>
          <p:nvPr/>
        </p:nvSpPr>
        <p:spPr>
          <a:xfrm>
            <a:off x="812800" y="5064547"/>
            <a:ext cx="10203180" cy="26477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Check the condominium rules and the use zone too — both can prohibit short-term letting entirely, whatever the national law permits.</a:t>
            </a:r>
            <a:endParaRPr lang="en-US" sz="1300" dirty="0"/>
          </a:p>
        </p:txBody>
      </p:sp>
      <p:sp>
        <p:nvSpPr>
          <p:cNvPr id="16" name="Text 14"/>
          <p:cNvSpPr/>
          <p:nvPr/>
        </p:nvSpPr>
        <p:spPr>
          <a:xfrm>
            <a:off x="812800" y="6238255"/>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9"/>
        </a:solidFill>
      </p:bgPr>
    </p:bg>
    <p:spTree>
      <p:nvGrpSpPr>
        <p:cNvPr id="1" name=""/>
        <p:cNvGrpSpPr/>
        <p:nvPr/>
      </p:nvGrpSpPr>
      <p:grpSpPr>
        <a:xfrm>
          <a:off x="0" y="0"/>
          <a:ext cx="0" cy="0"/>
          <a:chOff x="0" y="0"/>
          <a:chExt cx="0" cy="0"/>
        </a:xfrm>
      </p:grpSpPr>
      <p:sp>
        <p:nvSpPr>
          <p:cNvPr id="2" name="Text 0"/>
          <p:cNvSpPr/>
          <p:nvPr/>
        </p:nvSpPr>
        <p:spPr>
          <a:xfrm>
            <a:off x="812800" y="1317315"/>
            <a:ext cx="4970780" cy="90170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14232E"/>
                </a:solidFill>
                <a:latin typeface="Source Serif 4" pitchFamily="34" charset="0"/>
                <a:ea typeface="Source Serif 4" pitchFamily="34" charset="-122"/>
                <a:cs typeface="Source Serif 4" pitchFamily="34" charset="-120"/>
              </a:rPr>
              <a:t>Decide who buys it from you before you buy it</a:t>
            </a:r>
            <a:endParaRPr lang="en-US" sz="3000" dirty="0"/>
          </a:p>
        </p:txBody>
      </p:sp>
      <p:sp>
        <p:nvSpPr>
          <p:cNvPr id="3" name="Text 1"/>
          <p:cNvSpPr/>
          <p:nvPr/>
        </p:nvSpPr>
        <p:spPr>
          <a:xfrm>
            <a:off x="812800" y="2371415"/>
            <a:ext cx="497078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In a shrinking rural market the buyer pool for your house may be a handful of people a decade. That is survivable if you planned for it and painful if you did not.</a:t>
            </a:r>
            <a:endParaRPr lang="en-US" sz="1300" dirty="0"/>
          </a:p>
        </p:txBody>
      </p:sp>
      <p:sp>
        <p:nvSpPr>
          <p:cNvPr id="4" name="Text 2"/>
          <p:cNvSpPr/>
          <p:nvPr/>
        </p:nvSpPr>
        <p:spPr>
          <a:xfrm>
            <a:off x="812800" y="3292165"/>
            <a:ext cx="497078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A6470"/>
                </a:solidFill>
                <a:latin typeface="Inter" pitchFamily="34" charset="0"/>
                <a:ea typeface="Inter" pitchFamily="34" charset="-122"/>
                <a:cs typeface="Inter" pitchFamily="34" charset="-120"/>
              </a:rPr>
              <a:t>Ask three questions at the outset: who is the realistic next buyer, could they get a loan against this property, and what does it cost to demolish if nobody comes?</a:t>
            </a:r>
            <a:endParaRPr lang="en-US" sz="1300" dirty="0"/>
          </a:p>
        </p:txBody>
      </p:sp>
      <p:sp>
        <p:nvSpPr>
          <p:cNvPr id="5" name="Shape 3"/>
          <p:cNvSpPr/>
          <p:nvPr/>
        </p:nvSpPr>
        <p:spPr>
          <a:xfrm>
            <a:off x="812800" y="4212915"/>
            <a:ext cx="4826000" cy="1124530"/>
          </a:xfrm>
          <a:prstGeom prst="roundRect">
            <a:avLst>
              <a:gd name="adj" fmla="val 6776"/>
            </a:avLst>
          </a:prstGeom>
          <a:solidFill>
            <a:srgbClr val="14232E"/>
          </a:solidFill>
          <a:ln/>
        </p:spPr>
      </p:sp>
      <p:sp>
        <p:nvSpPr>
          <p:cNvPr id="6" name="Text 4"/>
          <p:cNvSpPr/>
          <p:nvPr/>
        </p:nvSpPr>
        <p:spPr>
          <a:xfrm>
            <a:off x="1016000" y="4416115"/>
            <a:ext cx="4552188"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Demolition of a small wooden house typically runs into the low millions of yen, more with asbestos or poor access. Treat it as the floor under your downside.</a:t>
            </a:r>
            <a:endParaRPr lang="en-US" sz="1300" dirty="0"/>
          </a:p>
        </p:txBody>
      </p:sp>
      <p:sp>
        <p:nvSpPr>
          <p:cNvPr id="7" name="Shape 5"/>
          <p:cNvSpPr/>
          <p:nvPr/>
        </p:nvSpPr>
        <p:spPr>
          <a:xfrm>
            <a:off x="6099175" y="1179165"/>
            <a:ext cx="5276850" cy="1343239"/>
          </a:xfrm>
          <a:prstGeom prst="roundRect">
            <a:avLst>
              <a:gd name="adj" fmla="val 5436"/>
            </a:avLst>
          </a:prstGeom>
          <a:solidFill>
            <a:srgbClr val="FFFFFF"/>
          </a:solidFill>
          <a:ln w="6350">
            <a:solidFill>
              <a:srgbClr val="DDD6C6"/>
            </a:solidFill>
            <a:prstDash val="solid"/>
          </a:ln>
        </p:spPr>
      </p:sp>
      <p:sp>
        <p:nvSpPr>
          <p:cNvPr id="8" name="Text 6"/>
          <p:cNvSpPr/>
          <p:nvPr/>
        </p:nvSpPr>
        <p:spPr>
          <a:xfrm>
            <a:off x="6305062" y="1385057"/>
            <a:ext cx="501102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Capital gains on sale</a:t>
            </a:r>
            <a:endParaRPr lang="en-US" sz="1400" dirty="0"/>
          </a:p>
        </p:txBody>
      </p:sp>
      <p:sp>
        <p:nvSpPr>
          <p:cNvPr id="9" name="Text 7"/>
          <p:cNvSpPr/>
          <p:nvPr/>
        </p:nvSpPr>
        <p:spPr>
          <a:xfrm>
            <a:off x="6305062" y="1598389"/>
            <a:ext cx="5011029"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Japan taxes property gains at a notably higher rate if you sell within roughly five years of ownership, and lower after. Holding period matters more than in many markets.</a:t>
            </a:r>
            <a:endParaRPr lang="en-US" sz="1300" dirty="0"/>
          </a:p>
        </p:txBody>
      </p:sp>
      <p:sp>
        <p:nvSpPr>
          <p:cNvPr id="10" name="Shape 8"/>
          <p:cNvSpPr/>
          <p:nvPr/>
        </p:nvSpPr>
        <p:spPr>
          <a:xfrm>
            <a:off x="6099175" y="2655763"/>
            <a:ext cx="5276850" cy="1343239"/>
          </a:xfrm>
          <a:prstGeom prst="roundRect">
            <a:avLst>
              <a:gd name="adj" fmla="val 5436"/>
            </a:avLst>
          </a:prstGeom>
          <a:solidFill>
            <a:srgbClr val="FFFFFF"/>
          </a:solidFill>
          <a:ln w="6350">
            <a:solidFill>
              <a:srgbClr val="DDD6C6"/>
            </a:solidFill>
            <a:prstDash val="solid"/>
          </a:ln>
        </p:spPr>
      </p:sp>
      <p:sp>
        <p:nvSpPr>
          <p:cNvPr id="11" name="Text 9"/>
          <p:cNvSpPr/>
          <p:nvPr/>
        </p:nvSpPr>
        <p:spPr>
          <a:xfrm>
            <a:off x="6305062" y="2861642"/>
            <a:ext cx="501102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Inheritance reaches assets here</a:t>
            </a:r>
            <a:endParaRPr lang="en-US" sz="1400" dirty="0"/>
          </a:p>
        </p:txBody>
      </p:sp>
      <p:sp>
        <p:nvSpPr>
          <p:cNvPr id="12" name="Text 10"/>
          <p:cNvSpPr/>
          <p:nvPr/>
        </p:nvSpPr>
        <p:spPr>
          <a:xfrm>
            <a:off x="6305062" y="3074988"/>
            <a:ext cx="5011029"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Japanese inheritance tax applies to property located in Japan. If the plan is to pass it to children abroad, take cross-border advice early rather than late.</a:t>
            </a:r>
            <a:endParaRPr lang="en-US" sz="1300" dirty="0"/>
          </a:p>
        </p:txBody>
      </p:sp>
      <p:sp>
        <p:nvSpPr>
          <p:cNvPr id="13" name="Shape 11"/>
          <p:cNvSpPr/>
          <p:nvPr/>
        </p:nvSpPr>
        <p:spPr>
          <a:xfrm>
            <a:off x="6099175" y="4132349"/>
            <a:ext cx="5276850" cy="1343239"/>
          </a:xfrm>
          <a:prstGeom prst="roundRect">
            <a:avLst>
              <a:gd name="adj" fmla="val 5436"/>
            </a:avLst>
          </a:prstGeom>
          <a:solidFill>
            <a:srgbClr val="FFFFFF"/>
          </a:solidFill>
          <a:ln w="6350">
            <a:solidFill>
              <a:srgbClr val="DDD6C6"/>
            </a:solidFill>
            <a:prstDash val="solid"/>
          </a:ln>
        </p:spPr>
      </p:sp>
      <p:sp>
        <p:nvSpPr>
          <p:cNvPr id="14" name="Text 12"/>
          <p:cNvSpPr/>
          <p:nvPr/>
        </p:nvSpPr>
        <p:spPr>
          <a:xfrm>
            <a:off x="6305062" y="4338241"/>
            <a:ext cx="5011029" cy="238736"/>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4462C"/>
                </a:solidFill>
                <a:latin typeface="Inter" pitchFamily="34" charset="0"/>
                <a:ea typeface="Inter" pitchFamily="34" charset="-122"/>
                <a:cs typeface="Inter" pitchFamily="34" charset="-120"/>
              </a:rPr>
              <a:t>Giving land back</a:t>
            </a:r>
            <a:endParaRPr lang="en-US" sz="1400" dirty="0"/>
          </a:p>
        </p:txBody>
      </p:sp>
      <p:sp>
        <p:nvSpPr>
          <p:cNvPr id="15" name="Text 13"/>
          <p:cNvSpPr/>
          <p:nvPr/>
        </p:nvSpPr>
        <p:spPr>
          <a:xfrm>
            <a:off x="6305062" y="4551573"/>
            <a:ext cx="5011029"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6470"/>
                </a:solidFill>
                <a:latin typeface="Inter" pitchFamily="34" charset="0"/>
                <a:ea typeface="Inter" pitchFamily="34" charset="-122"/>
                <a:cs typeface="Inter" pitchFamily="34" charset="-120"/>
              </a:rPr>
              <a:t>A scheme exists for surrendering unwanted inherited land to the state, but it is narrow, has conditions and requires a payment. It is not an easy exit.</a:t>
            </a:r>
            <a:endParaRPr lang="en-US" sz="1300" dirty="0"/>
          </a:p>
        </p:txBody>
      </p:sp>
      <p:sp>
        <p:nvSpPr>
          <p:cNvPr id="16" name="Text 14"/>
          <p:cNvSpPr/>
          <p:nvPr/>
        </p:nvSpPr>
        <p:spPr>
          <a:xfrm>
            <a:off x="812800" y="6238255"/>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0"/>
                </a:solidFill>
                <a:latin typeface="Inter" pitchFamily="34" charset="0"/>
                <a:ea typeface="Inter" pitchFamily="34" charset="-122"/>
                <a:cs typeface="Inter" pitchFamily="34" charset="-120"/>
              </a:rPr>
              <a:t>YAMA-VISTA  ·  japancheaphouses.com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B4462C"/>
        </a:solidFill>
      </p:bgPr>
    </p:bg>
    <p:spTree>
      <p:nvGrpSpPr>
        <p:cNvPr id="1" name=""/>
        <p:cNvGrpSpPr/>
        <p:nvPr/>
      </p:nvGrpSpPr>
      <p:grpSpPr>
        <a:xfrm>
          <a:off x="0" y="0"/>
          <a:ext cx="0" cy="0"/>
          <a:chOff x="0" y="0"/>
          <a:chExt cx="0" cy="0"/>
        </a:xfrm>
      </p:grpSpPr>
      <p:sp>
        <p:nvSpPr>
          <p:cNvPr id="2" name="Text 0"/>
          <p:cNvSpPr/>
          <p:nvPr/>
        </p:nvSpPr>
        <p:spPr>
          <a:xfrm>
            <a:off x="812800" y="812800"/>
            <a:ext cx="10883393" cy="486386"/>
          </a:xfrm>
          <a:prstGeom prst="rect">
            <a:avLst/>
          </a:prstGeom>
          <a:noFill/>
          <a:ln/>
        </p:spPr>
        <p:txBody>
          <a:bodyPr wrap="square" lIns="0" tIns="0" rIns="0" bIns="0" rtlCol="0" anchor="t">
            <a:normAutofit/>
          </a:bodyPr>
          <a:lstStyle/>
          <a:p>
            <a:pPr algn="l" indent="0" marL="0">
              <a:lnSpc>
                <a:spcPts val="3630"/>
              </a:lnSpc>
              <a:buNone/>
            </a:pPr>
            <a:r>
              <a:rPr lang="en-US" sz="3300" dirty="0">
                <a:solidFill>
                  <a:srgbClr val="F6F2E9"/>
                </a:solidFill>
                <a:latin typeface="Source Serif 4" pitchFamily="34" charset="0"/>
                <a:ea typeface="Source Serif 4" pitchFamily="34" charset="-122"/>
                <a:cs typeface="Source Serif 4" pitchFamily="34" charset="-120"/>
              </a:rPr>
              <a:t>Six findings that should stop a purchase</a:t>
            </a:r>
            <a:endParaRPr lang="en-US" sz="3300" dirty="0"/>
          </a:p>
        </p:txBody>
      </p:sp>
      <p:sp>
        <p:nvSpPr>
          <p:cNvPr id="3" name="Shape 1"/>
          <p:cNvSpPr/>
          <p:nvPr/>
        </p:nvSpPr>
        <p:spPr>
          <a:xfrm>
            <a:off x="812800" y="1527783"/>
            <a:ext cx="3403600" cy="1719507"/>
          </a:xfrm>
          <a:prstGeom prst="roundRect">
            <a:avLst>
              <a:gd name="adj" fmla="val 4432"/>
            </a:avLst>
          </a:prstGeom>
          <a:solidFill>
            <a:srgbClr val="9C3B24"/>
          </a:solidFill>
          <a:ln/>
        </p:spPr>
      </p:sp>
      <p:sp>
        <p:nvSpPr>
          <p:cNvPr id="4" name="Text 2"/>
          <p:cNvSpPr/>
          <p:nvPr/>
        </p:nvSpPr>
        <p:spPr>
          <a:xfrm>
            <a:off x="1041400" y="1756383"/>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01   No legal road access</a:t>
            </a:r>
            <a:endParaRPr lang="en-US" sz="1500" dirty="0"/>
          </a:p>
        </p:txBody>
      </p:sp>
      <p:sp>
        <p:nvSpPr>
          <p:cNvPr id="5" name="Text 3"/>
          <p:cNvSpPr/>
          <p:nvPr/>
        </p:nvSpPr>
        <p:spPr>
          <a:xfrm>
            <a:off x="1041400" y="2061183"/>
            <a:ext cx="3034792"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The plot cannot be rebuilt on. No lender, few future buyers, and severe limits on what you may do to the building.</a:t>
            </a:r>
            <a:endParaRPr lang="en-US" sz="1300" dirty="0"/>
          </a:p>
        </p:txBody>
      </p:sp>
      <p:sp>
        <p:nvSpPr>
          <p:cNvPr id="6" name="Shape 4"/>
          <p:cNvSpPr/>
          <p:nvPr/>
        </p:nvSpPr>
        <p:spPr>
          <a:xfrm>
            <a:off x="4394200" y="1527783"/>
            <a:ext cx="3403600" cy="1719507"/>
          </a:xfrm>
          <a:prstGeom prst="roundRect">
            <a:avLst>
              <a:gd name="adj" fmla="val 4432"/>
            </a:avLst>
          </a:prstGeom>
          <a:solidFill>
            <a:srgbClr val="9C3B24"/>
          </a:solidFill>
          <a:ln/>
        </p:spPr>
      </p:sp>
      <p:sp>
        <p:nvSpPr>
          <p:cNvPr id="7" name="Text 5"/>
          <p:cNvSpPr/>
          <p:nvPr/>
        </p:nvSpPr>
        <p:spPr>
          <a:xfrm>
            <a:off x="4622800" y="1756383"/>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02   Red-zone hazard land</a:t>
            </a:r>
            <a:endParaRPr lang="en-US" sz="1500" dirty="0"/>
          </a:p>
        </p:txBody>
      </p:sp>
      <p:sp>
        <p:nvSpPr>
          <p:cNvPr id="8" name="Text 6"/>
          <p:cNvSpPr/>
          <p:nvPr/>
        </p:nvSpPr>
        <p:spPr>
          <a:xfrm>
            <a:off x="4622800" y="2061183"/>
            <a:ext cx="3034792"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A landslide special zone or deep flood designation. Structural obligations, high premiums and a permanent resale discount.</a:t>
            </a:r>
            <a:endParaRPr lang="en-US" sz="1300" dirty="0"/>
          </a:p>
        </p:txBody>
      </p:sp>
      <p:sp>
        <p:nvSpPr>
          <p:cNvPr id="9" name="Shape 7"/>
          <p:cNvSpPr/>
          <p:nvPr/>
        </p:nvSpPr>
        <p:spPr>
          <a:xfrm>
            <a:off x="7975600" y="1527783"/>
            <a:ext cx="3403600" cy="1719507"/>
          </a:xfrm>
          <a:prstGeom prst="roundRect">
            <a:avLst>
              <a:gd name="adj" fmla="val 4432"/>
            </a:avLst>
          </a:prstGeom>
          <a:solidFill>
            <a:srgbClr val="9C3B24"/>
          </a:solidFill>
          <a:ln/>
        </p:spPr>
      </p:sp>
      <p:sp>
        <p:nvSpPr>
          <p:cNvPr id="10" name="Text 8"/>
          <p:cNvSpPr/>
          <p:nvPr/>
        </p:nvSpPr>
        <p:spPr>
          <a:xfrm>
            <a:off x="8204200" y="1756383"/>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03   Title you cannot clear</a:t>
            </a:r>
            <a:endParaRPr lang="en-US" sz="1500" dirty="0"/>
          </a:p>
        </p:txBody>
      </p:sp>
      <p:sp>
        <p:nvSpPr>
          <p:cNvPr id="11" name="Text 9"/>
          <p:cNvSpPr/>
          <p:nvPr/>
        </p:nvSpPr>
        <p:spPr>
          <a:xfrm>
            <a:off x="8204200" y="2061183"/>
            <a:ext cx="3034792"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Missing heirs, undischarged mortgages, unregistered buildings or a boundary nobody will sign off.</a:t>
            </a:r>
            <a:endParaRPr lang="en-US" sz="1300" dirty="0"/>
          </a:p>
        </p:txBody>
      </p:sp>
      <p:sp>
        <p:nvSpPr>
          <p:cNvPr id="12" name="Shape 10"/>
          <p:cNvSpPr/>
          <p:nvPr/>
        </p:nvSpPr>
        <p:spPr>
          <a:xfrm>
            <a:off x="812800" y="3425081"/>
            <a:ext cx="3403600" cy="1719507"/>
          </a:xfrm>
          <a:prstGeom prst="roundRect">
            <a:avLst>
              <a:gd name="adj" fmla="val 4432"/>
            </a:avLst>
          </a:prstGeom>
          <a:solidFill>
            <a:srgbClr val="9C3B24"/>
          </a:solidFill>
          <a:ln/>
        </p:spPr>
      </p:sp>
      <p:sp>
        <p:nvSpPr>
          <p:cNvPr id="13" name="Text 11"/>
          <p:cNvSpPr/>
          <p:nvPr/>
        </p:nvSpPr>
        <p:spPr>
          <a:xfrm>
            <a:off x="1041400" y="3653681"/>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04   Structure beyond the budget</a:t>
            </a:r>
            <a:endParaRPr lang="en-US" sz="1500" dirty="0"/>
          </a:p>
        </p:txBody>
      </p:sp>
      <p:sp>
        <p:nvSpPr>
          <p:cNvPr id="14" name="Text 12"/>
          <p:cNvSpPr/>
          <p:nvPr/>
        </p:nvSpPr>
        <p:spPr>
          <a:xfrm>
            <a:off x="1041400" y="3958481"/>
            <a:ext cx="3034792" cy="7435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A leaning frame, a failed foundation or widespread termite damage, where repair exceeds the cost of rebuilding.</a:t>
            </a:r>
            <a:endParaRPr lang="en-US" sz="1300" dirty="0"/>
          </a:p>
        </p:txBody>
      </p:sp>
      <p:sp>
        <p:nvSpPr>
          <p:cNvPr id="15" name="Shape 13"/>
          <p:cNvSpPr/>
          <p:nvPr/>
        </p:nvSpPr>
        <p:spPr>
          <a:xfrm>
            <a:off x="4394200" y="3425081"/>
            <a:ext cx="3403600" cy="1719507"/>
          </a:xfrm>
          <a:prstGeom prst="roundRect">
            <a:avLst>
              <a:gd name="adj" fmla="val 4432"/>
            </a:avLst>
          </a:prstGeom>
          <a:solidFill>
            <a:srgbClr val="9C3B24"/>
          </a:solidFill>
          <a:ln/>
        </p:spPr>
      </p:sp>
      <p:sp>
        <p:nvSpPr>
          <p:cNvPr id="16" name="Text 14"/>
          <p:cNvSpPr/>
          <p:nvPr/>
        </p:nvSpPr>
        <p:spPr>
          <a:xfrm>
            <a:off x="4622800" y="3653681"/>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05   Use you cannot have</a:t>
            </a:r>
            <a:endParaRPr lang="en-US" sz="1500" dirty="0"/>
          </a:p>
        </p:txBody>
      </p:sp>
      <p:sp>
        <p:nvSpPr>
          <p:cNvPr id="17" name="Text 15"/>
          <p:cNvSpPr/>
          <p:nvPr/>
        </p:nvSpPr>
        <p:spPr>
          <a:xfrm>
            <a:off x="4622800" y="3958481"/>
            <a:ext cx="3034792"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Zoning, building rules or condominium regulations that forbid the guesthouse, studio or business the purchase was for.</a:t>
            </a:r>
            <a:endParaRPr lang="en-US" sz="1300" dirty="0"/>
          </a:p>
        </p:txBody>
      </p:sp>
      <p:sp>
        <p:nvSpPr>
          <p:cNvPr id="18" name="Shape 16"/>
          <p:cNvSpPr/>
          <p:nvPr/>
        </p:nvSpPr>
        <p:spPr>
          <a:xfrm>
            <a:off x="7975600" y="3425081"/>
            <a:ext cx="3403600" cy="1719507"/>
          </a:xfrm>
          <a:prstGeom prst="roundRect">
            <a:avLst>
              <a:gd name="adj" fmla="val 4432"/>
            </a:avLst>
          </a:prstGeom>
          <a:solidFill>
            <a:srgbClr val="9C3B24"/>
          </a:solidFill>
          <a:ln/>
        </p:spPr>
      </p:sp>
      <p:sp>
        <p:nvSpPr>
          <p:cNvPr id="19" name="Text 17"/>
          <p:cNvSpPr/>
          <p:nvPr/>
        </p:nvSpPr>
        <p:spPr>
          <a:xfrm>
            <a:off x="8204200" y="3653681"/>
            <a:ext cx="30347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2E9"/>
                </a:solidFill>
                <a:latin typeface="Inter" pitchFamily="34" charset="0"/>
                <a:ea typeface="Inter" pitchFamily="34" charset="-122"/>
                <a:cs typeface="Inter" pitchFamily="34" charset="-120"/>
              </a:rPr>
              <a:t>06   A seller who will not disclose</a:t>
            </a:r>
            <a:endParaRPr lang="en-US" sz="1500" dirty="0"/>
          </a:p>
        </p:txBody>
      </p:sp>
      <p:sp>
        <p:nvSpPr>
          <p:cNvPr id="20" name="Text 18"/>
          <p:cNvSpPr/>
          <p:nvPr/>
        </p:nvSpPr>
        <p:spPr>
          <a:xfrm>
            <a:off x="8204200" y="3958481"/>
            <a:ext cx="3034792"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6F2E9"/>
                </a:solidFill>
                <a:latin typeface="Inter" pitchFamily="34" charset="0"/>
                <a:ea typeface="Inter" pitchFamily="34" charset="-122"/>
                <a:cs typeface="Inter" pitchFamily="34" charset="-120"/>
              </a:rPr>
              <a:t>No advance sight of the disclosure document, no survey access, no written answers. Absence of information is information.</a:t>
            </a:r>
            <a:endParaRPr lang="en-US" sz="1300" dirty="0"/>
          </a:p>
        </p:txBody>
      </p:sp>
      <p:sp>
        <p:nvSpPr>
          <p:cNvPr id="21" name="Text 19"/>
          <p:cNvSpPr/>
          <p:nvPr/>
        </p:nvSpPr>
        <p:spPr>
          <a:xfrm>
            <a:off x="812800" y="6238255"/>
            <a:ext cx="9156700"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D8CE"/>
                </a:solidFill>
                <a:latin typeface="Inter" pitchFamily="34" charset="0"/>
                <a:ea typeface="Inter" pitchFamily="34" charset="-122"/>
                <a:cs typeface="Inter" pitchFamily="34" charset="-120"/>
              </a:rPr>
              <a:t>YAMA-VISTA  ·  japancheaphouses.com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32E"/>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02"/>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F6F2E9"/>
                </a:solidFill>
                <a:latin typeface="Source Serif 4" pitchFamily="34" charset="0"/>
                <a:ea typeface="Source Serif 4" pitchFamily="34" charset="-122"/>
                <a:cs typeface="Source Serif 4" pitchFamily="34" charset="-120"/>
              </a:rPr>
              <a:t>Your next three steps</a:t>
            </a:r>
            <a:endParaRPr lang="en-US" sz="3600" dirty="0"/>
          </a:p>
        </p:txBody>
      </p:sp>
      <p:sp>
        <p:nvSpPr>
          <p:cNvPr id="3" name="Shape 1"/>
          <p:cNvSpPr/>
          <p:nvPr/>
        </p:nvSpPr>
        <p:spPr>
          <a:xfrm>
            <a:off x="812800" y="1518903"/>
            <a:ext cx="1143000" cy="25400"/>
          </a:xfrm>
          <a:prstGeom prst="rect">
            <a:avLst/>
          </a:prstGeom>
          <a:solidFill>
            <a:srgbClr val="E2906B"/>
          </a:solidFill>
          <a:ln/>
        </p:spPr>
      </p:sp>
      <p:sp>
        <p:nvSpPr>
          <p:cNvPr id="4" name="Shape 2"/>
          <p:cNvSpPr/>
          <p:nvPr/>
        </p:nvSpPr>
        <p:spPr>
          <a:xfrm>
            <a:off x="812800" y="2359385"/>
            <a:ext cx="3403600" cy="2022384"/>
          </a:xfrm>
          <a:prstGeom prst="roundRect">
            <a:avLst>
              <a:gd name="adj" fmla="val 3768"/>
            </a:avLst>
          </a:prstGeom>
          <a:solidFill>
            <a:srgbClr val="1D3040"/>
          </a:solidFill>
          <a:ln/>
        </p:spPr>
      </p:sp>
      <p:sp>
        <p:nvSpPr>
          <p:cNvPr id="5" name="Text 3"/>
          <p:cNvSpPr/>
          <p:nvPr/>
        </p:nvSpPr>
        <p:spPr>
          <a:xfrm>
            <a:off x="1066800" y="2613385"/>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2906B"/>
                </a:solidFill>
                <a:latin typeface="Inter" pitchFamily="34" charset="0"/>
                <a:ea typeface="Inter" pitchFamily="34" charset="-122"/>
                <a:cs typeface="Inter" pitchFamily="34" charset="-120"/>
              </a:rPr>
              <a:t>01   Define the brief</a:t>
            </a:r>
            <a:endParaRPr lang="en-US" sz="1500" dirty="0"/>
          </a:p>
        </p:txBody>
      </p:sp>
      <p:sp>
        <p:nvSpPr>
          <p:cNvPr id="6" name="Text 4"/>
          <p:cNvSpPr/>
          <p:nvPr/>
        </p:nvSpPr>
        <p:spPr>
          <a:xfrm>
            <a:off x="1066800" y="2930885"/>
            <a:ext cx="2982468"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9B7C0"/>
                </a:solidFill>
                <a:latin typeface="Inter" pitchFamily="34" charset="0"/>
                <a:ea typeface="Inter" pitchFamily="34" charset="-122"/>
                <a:cs typeface="Inter" pitchFamily="34" charset="-120"/>
              </a:rPr>
              <a:t>Complete the buyer profile form so the search is built around your use case, budget, region and appetite for work — not around whatever happens to be listed.</a:t>
            </a:r>
            <a:endParaRPr lang="en-US" sz="1300" dirty="0"/>
          </a:p>
        </p:txBody>
      </p:sp>
      <p:sp>
        <p:nvSpPr>
          <p:cNvPr id="7" name="Shape 5"/>
          <p:cNvSpPr/>
          <p:nvPr/>
        </p:nvSpPr>
        <p:spPr>
          <a:xfrm>
            <a:off x="4394200" y="2359385"/>
            <a:ext cx="3403600" cy="2022384"/>
          </a:xfrm>
          <a:prstGeom prst="roundRect">
            <a:avLst>
              <a:gd name="adj" fmla="val 3768"/>
            </a:avLst>
          </a:prstGeom>
          <a:solidFill>
            <a:srgbClr val="1D3040"/>
          </a:solidFill>
          <a:ln/>
        </p:spPr>
      </p:sp>
      <p:sp>
        <p:nvSpPr>
          <p:cNvPr id="8" name="Text 6"/>
          <p:cNvSpPr/>
          <p:nvPr/>
        </p:nvSpPr>
        <p:spPr>
          <a:xfrm>
            <a:off x="4648200" y="2613385"/>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2906B"/>
                </a:solidFill>
                <a:latin typeface="Inter" pitchFamily="34" charset="0"/>
                <a:ea typeface="Inter" pitchFamily="34" charset="-122"/>
                <a:cs typeface="Inter" pitchFamily="34" charset="-120"/>
              </a:rPr>
              <a:t>02   Set your limits</a:t>
            </a:r>
            <a:endParaRPr lang="en-US" sz="1500" dirty="0"/>
          </a:p>
        </p:txBody>
      </p:sp>
      <p:sp>
        <p:nvSpPr>
          <p:cNvPr id="9" name="Text 7"/>
          <p:cNvSpPr/>
          <p:nvPr/>
        </p:nvSpPr>
        <p:spPr>
          <a:xfrm>
            <a:off x="4648200" y="2930885"/>
            <a:ext cx="2982468" cy="12222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9B7C0"/>
                </a:solidFill>
                <a:latin typeface="Inter" pitchFamily="34" charset="0"/>
                <a:ea typeface="Inter" pitchFamily="34" charset="-122"/>
                <a:cs typeface="Inter" pitchFamily="34" charset="-120"/>
              </a:rPr>
              <a:t>Work through the deal-breaker checklist and mark which findings are fatal, which are negotiable and which you can live with. Decide this before you fall for a house.</a:t>
            </a:r>
            <a:endParaRPr lang="en-US" sz="1300" dirty="0"/>
          </a:p>
        </p:txBody>
      </p:sp>
      <p:sp>
        <p:nvSpPr>
          <p:cNvPr id="10" name="Shape 8"/>
          <p:cNvSpPr/>
          <p:nvPr/>
        </p:nvSpPr>
        <p:spPr>
          <a:xfrm>
            <a:off x="7975600" y="2359385"/>
            <a:ext cx="3403600" cy="2022384"/>
          </a:xfrm>
          <a:prstGeom prst="roundRect">
            <a:avLst>
              <a:gd name="adj" fmla="val 3768"/>
            </a:avLst>
          </a:prstGeom>
          <a:solidFill>
            <a:srgbClr val="1D3040"/>
          </a:solidFill>
          <a:ln/>
        </p:spPr>
      </p:sp>
      <p:sp>
        <p:nvSpPr>
          <p:cNvPr id="11" name="Text 9"/>
          <p:cNvSpPr/>
          <p:nvPr/>
        </p:nvSpPr>
        <p:spPr>
          <a:xfrm>
            <a:off x="8229600" y="2613385"/>
            <a:ext cx="298246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2906B"/>
                </a:solidFill>
                <a:latin typeface="Inter" pitchFamily="34" charset="0"/>
                <a:ea typeface="Inter" pitchFamily="34" charset="-122"/>
                <a:cs typeface="Inter" pitchFamily="34" charset="-120"/>
              </a:rPr>
              <a:t>03   Bring us a property</a:t>
            </a:r>
            <a:endParaRPr lang="en-US" sz="1500" dirty="0"/>
          </a:p>
        </p:txBody>
      </p:sp>
      <p:sp>
        <p:nvSpPr>
          <p:cNvPr id="12" name="Text 10"/>
          <p:cNvSpPr/>
          <p:nvPr/>
        </p:nvSpPr>
        <p:spPr>
          <a:xfrm>
            <a:off x="8229600" y="2930885"/>
            <a:ext cx="2982468" cy="9829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9B7C0"/>
                </a:solidFill>
                <a:latin typeface="Inter" pitchFamily="34" charset="0"/>
                <a:ea typeface="Inter" pitchFamily="34" charset="-122"/>
                <a:cs typeface="Inter" pitchFamily="34" charset="-120"/>
              </a:rPr>
              <a:t>Send the listing and we will check the road, the zoning, the hazard maps and the register before you spend money on a viewing trip.</a:t>
            </a:r>
            <a:endParaRPr lang="en-US" sz="1300" dirty="0"/>
          </a:p>
        </p:txBody>
      </p:sp>
      <p:sp>
        <p:nvSpPr>
          <p:cNvPr id="13" name="Text 11"/>
          <p:cNvSpPr/>
          <p:nvPr/>
        </p:nvSpPr>
        <p:spPr>
          <a:xfrm>
            <a:off x="812800" y="5196855"/>
            <a:ext cx="10883393" cy="363202"/>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2E9"/>
                </a:solidFill>
                <a:latin typeface="Inter" pitchFamily="34" charset="0"/>
                <a:ea typeface="Inter" pitchFamily="34" charset="-122"/>
                <a:cs typeface="Inter" pitchFamily="34" charset="-120"/>
              </a:rPr>
              <a:t>YAMA-VISTA</a:t>
            </a:r>
            <a:endParaRPr lang="en-US" sz="1900" dirty="0"/>
          </a:p>
        </p:txBody>
      </p:sp>
      <p:sp>
        <p:nvSpPr>
          <p:cNvPr id="14" name="Text 12"/>
          <p:cNvSpPr/>
          <p:nvPr/>
        </p:nvSpPr>
        <p:spPr>
          <a:xfrm>
            <a:off x="812800" y="5610858"/>
            <a:ext cx="10883393" cy="2565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7C0"/>
                </a:solidFill>
                <a:latin typeface="Inter" pitchFamily="34" charset="0"/>
                <a:ea typeface="Inter" pitchFamily="34" charset="-122"/>
                <a:cs typeface="Inter" pitchFamily="34" charset="-120"/>
              </a:rPr>
              <a:t>japancheaphouses.com  ·  Listings, consulting and a community for buyers of Japanese property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Buying a Home in Japan — The Complete Buyer's Guide</dc:title>
  <dc:subject>PptxGenJS Presentation</dc:subject>
  <dc:creator>PptxGenJS</dc:creator>
  <cp:lastModifiedBy>PptxGenJS</cp:lastModifiedBy>
  <cp:revision>1</cp:revision>
  <dcterms:created xsi:type="dcterms:W3CDTF">2026-09-20T02:56:37Z</dcterms:created>
  <dcterms:modified xsi:type="dcterms:W3CDTF">2026-09-20T02:56:37Z</dcterms:modified>
</cp:coreProperties>
</file>